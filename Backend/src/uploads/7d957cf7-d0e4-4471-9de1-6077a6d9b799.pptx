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59" r:id="rId6"/>
    <p:sldId id="271" r:id="rId7"/>
    <p:sldId id="269" r:id="rId8"/>
    <p:sldId id="272" r:id="rId9"/>
    <p:sldId id="274" r:id="rId10"/>
    <p:sldId id="260" r:id="rId11"/>
    <p:sldId id="261" r:id="rId12"/>
    <p:sldId id="262" r:id="rId13"/>
    <p:sldId id="276" r:id="rId14"/>
    <p:sldId id="275" r:id="rId15"/>
    <p:sldId id="277" r:id="rId16"/>
    <p:sldId id="279" r:id="rId17"/>
    <p:sldId id="278" r:id="rId18"/>
    <p:sldId id="280" r:id="rId19"/>
    <p:sldId id="281" r:id="rId20"/>
    <p:sldId id="282" r:id="rId21"/>
    <p:sldId id="263" r:id="rId22"/>
    <p:sldId id="273" r:id="rId23"/>
    <p:sldId id="265" r:id="rId24"/>
    <p:sldId id="266" r:id="rId25"/>
    <p:sldId id="26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F482E-291B-830B-4853-65FB43078B0A}" v="269" dt="2025-12-08T12:24:52.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5DAE4C-17A8-4705-AEE7-F7A2872495F3}" type="doc">
      <dgm:prSet loTypeId="urn:microsoft.com/office/officeart/2005/8/layout/process2" loCatId="process" qsTypeId="urn:microsoft.com/office/officeart/2005/8/quickstyle/simple1" qsCatId="simple" csTypeId="urn:microsoft.com/office/officeart/2005/8/colors/accent2_2" csCatId="accent2" phldr="1"/>
      <dgm:spPr/>
    </dgm:pt>
    <dgm:pt modelId="{C3C48077-C065-417A-9B03-4E095CDD6205}">
      <dgm:prSet phldr="0"/>
      <dgm:spPr/>
      <dgm:t>
        <a:bodyPr/>
        <a:lstStyle/>
        <a:p>
          <a:pPr algn="l" rtl="0"/>
          <a:r>
            <a:rPr lang="en-US">
              <a:latin typeface="Calibri"/>
            </a:rPr>
            <a:t>Safety circular arrives in </a:t>
          </a:r>
          <a:r>
            <a:rPr lang="en-US" b="1">
              <a:latin typeface="Calibri"/>
            </a:rPr>
            <a:t>email</a:t>
          </a:r>
          <a:r>
            <a:rPr lang="en-US">
              <a:latin typeface="Calibri"/>
            </a:rPr>
            <a:t> (PDF in Malayalam).</a:t>
          </a:r>
        </a:p>
      </dgm:t>
    </dgm:pt>
    <dgm:pt modelId="{534CD5EF-9985-486B-BDE3-25F18BF9982E}" type="parTrans" cxnId="{91BC8EED-C6C4-4B74-8B6F-B4B499D0D9B9}">
      <dgm:prSet/>
      <dgm:spPr/>
      <dgm:t>
        <a:bodyPr/>
        <a:lstStyle/>
        <a:p>
          <a:endParaRPr lang="en-IN"/>
        </a:p>
      </dgm:t>
    </dgm:pt>
    <dgm:pt modelId="{A4EC5ECF-9EE5-4042-B079-90CEF1E86079}" type="sibTrans" cxnId="{91BC8EED-C6C4-4B74-8B6F-B4B499D0D9B9}">
      <dgm:prSet/>
      <dgm:spPr/>
      <dgm:t>
        <a:bodyPr/>
        <a:lstStyle/>
        <a:p>
          <a:endParaRPr lang="en-US"/>
        </a:p>
      </dgm:t>
    </dgm:pt>
    <dgm:pt modelId="{80883345-A707-48E3-835E-A6DEFDF7416A}">
      <dgm:prSet phldr="0"/>
      <dgm:spPr/>
      <dgm:t>
        <a:bodyPr/>
        <a:lstStyle/>
        <a:p>
          <a:pPr algn="l"/>
          <a:r>
            <a:rPr lang="en-US" b="1">
              <a:latin typeface="Calibri"/>
            </a:rPr>
            <a:t>OCR + NLP</a:t>
          </a:r>
          <a:r>
            <a:rPr lang="en-US">
              <a:latin typeface="Calibri"/>
            </a:rPr>
            <a:t> → extract text → auto-translate → generate </a:t>
          </a:r>
          <a:r>
            <a:rPr lang="en-US" b="1">
              <a:latin typeface="Calibri"/>
            </a:rPr>
            <a:t>2-line summary</a:t>
          </a:r>
          <a:r>
            <a:rPr lang="en-US">
              <a:latin typeface="Calibri"/>
            </a:rPr>
            <a:t>.</a:t>
          </a:r>
        </a:p>
      </dgm:t>
    </dgm:pt>
    <dgm:pt modelId="{EF9DEA95-8BF0-4031-8D0D-5B097EE71749}" type="parTrans" cxnId="{29397A0B-64FF-44F8-9324-F80A09AB4D19}">
      <dgm:prSet/>
      <dgm:spPr/>
      <dgm:t>
        <a:bodyPr/>
        <a:lstStyle/>
        <a:p>
          <a:endParaRPr lang="en-IN"/>
        </a:p>
      </dgm:t>
    </dgm:pt>
    <dgm:pt modelId="{B88D1CB9-9B61-480C-8AC1-C90138ED5F32}" type="sibTrans" cxnId="{29397A0B-64FF-44F8-9324-F80A09AB4D19}">
      <dgm:prSet/>
      <dgm:spPr/>
      <dgm:t>
        <a:bodyPr/>
        <a:lstStyle/>
        <a:p>
          <a:endParaRPr lang="en-US"/>
        </a:p>
      </dgm:t>
    </dgm:pt>
    <dgm:pt modelId="{8AD9E91B-F8BF-410D-97CA-EDF093909C45}">
      <dgm:prSet phldr="0"/>
      <dgm:spPr/>
      <dgm:t>
        <a:bodyPr/>
        <a:lstStyle/>
        <a:p>
          <a:pPr algn="l"/>
          <a:r>
            <a:rPr lang="en-US">
              <a:latin typeface="Calibri"/>
            </a:rPr>
            <a:t>Classifier tags it as </a:t>
          </a:r>
          <a:r>
            <a:rPr lang="en-US" b="1">
              <a:latin typeface="Calibri"/>
            </a:rPr>
            <a:t>safety-critical</a:t>
          </a:r>
          <a:r>
            <a:rPr lang="en-US">
              <a:latin typeface="Calibri"/>
            </a:rPr>
            <a:t> → routes to HR, Ops, Station Managers.</a:t>
          </a:r>
        </a:p>
      </dgm:t>
    </dgm:pt>
    <dgm:pt modelId="{E90781BD-A55B-4618-8C97-BBE99666C92E}" type="parTrans" cxnId="{B0238388-E67E-4606-92A7-3B9C53668A60}">
      <dgm:prSet/>
      <dgm:spPr/>
      <dgm:t>
        <a:bodyPr/>
        <a:lstStyle/>
        <a:p>
          <a:endParaRPr lang="en-IN"/>
        </a:p>
      </dgm:t>
    </dgm:pt>
    <dgm:pt modelId="{5506289B-EEC7-4F19-8973-DF5D3DCE7014}" type="sibTrans" cxnId="{B0238388-E67E-4606-92A7-3B9C53668A60}">
      <dgm:prSet/>
      <dgm:spPr/>
      <dgm:t>
        <a:bodyPr/>
        <a:lstStyle/>
        <a:p>
          <a:endParaRPr lang="en-US"/>
        </a:p>
      </dgm:t>
    </dgm:pt>
    <dgm:pt modelId="{B624B904-15E8-46A1-AD77-4665FEC492F3}">
      <dgm:prSet phldr="0"/>
      <dgm:spPr/>
      <dgm:t>
        <a:bodyPr/>
        <a:lstStyle/>
        <a:p>
          <a:pPr algn="l" rtl="0"/>
          <a:r>
            <a:rPr lang="en-US">
              <a:latin typeface="Calibri"/>
            </a:rPr>
            <a:t>Stored in Database → searchable later (“Find all safety circulars of 2024”).</a:t>
          </a:r>
        </a:p>
      </dgm:t>
    </dgm:pt>
    <dgm:pt modelId="{2D305FA0-0A6F-4692-AD75-88E307D56B77}" type="parTrans" cxnId="{C59E38FC-189F-484E-B714-C6EA9D16D0D8}">
      <dgm:prSet/>
      <dgm:spPr/>
      <dgm:t>
        <a:bodyPr/>
        <a:lstStyle/>
        <a:p>
          <a:endParaRPr lang="en-IN"/>
        </a:p>
      </dgm:t>
    </dgm:pt>
    <dgm:pt modelId="{49024474-C69B-49A5-949A-D03D22BDF8C0}" type="sibTrans" cxnId="{C59E38FC-189F-484E-B714-C6EA9D16D0D8}">
      <dgm:prSet/>
      <dgm:spPr/>
      <dgm:t>
        <a:bodyPr/>
        <a:lstStyle/>
        <a:p>
          <a:endParaRPr lang="en-US"/>
        </a:p>
      </dgm:t>
    </dgm:pt>
    <dgm:pt modelId="{C2BB0F4C-CCCE-43ED-B3DF-4433D3F9EA3D}">
      <dgm:prSet phldr="0"/>
      <dgm:spPr/>
      <dgm:t>
        <a:bodyPr/>
        <a:lstStyle/>
        <a:p>
          <a:pPr algn="l"/>
          <a:r>
            <a:rPr lang="en-US">
              <a:latin typeface="Calibri"/>
            </a:rPr>
            <a:t>Alert sent: </a:t>
          </a:r>
          <a:r>
            <a:rPr lang="en-US" b="1">
              <a:latin typeface="Calibri"/>
            </a:rPr>
            <a:t>“New Safety Directive (Deadline Sept 15) – Action Required.”</a:t>
          </a:r>
          <a:endParaRPr lang="en-US">
            <a:latin typeface="Calibri"/>
          </a:endParaRPr>
        </a:p>
      </dgm:t>
    </dgm:pt>
    <dgm:pt modelId="{25AED921-4D27-4D68-B7C9-4660CFBA3149}" type="parTrans" cxnId="{0D197B7A-F979-469A-BB7A-5A72A82C22CF}">
      <dgm:prSet/>
      <dgm:spPr/>
      <dgm:t>
        <a:bodyPr/>
        <a:lstStyle/>
        <a:p>
          <a:endParaRPr lang="en-IN"/>
        </a:p>
      </dgm:t>
    </dgm:pt>
    <dgm:pt modelId="{F969D709-161A-4E38-B620-8996169F0F44}" type="sibTrans" cxnId="{0D197B7A-F979-469A-BB7A-5A72A82C22CF}">
      <dgm:prSet/>
      <dgm:spPr/>
      <dgm:t>
        <a:bodyPr/>
        <a:lstStyle/>
        <a:p>
          <a:endParaRPr lang="en-US"/>
        </a:p>
      </dgm:t>
    </dgm:pt>
    <dgm:pt modelId="{FEF67F1D-537F-43F1-8667-D25C7CC80CC3}" type="pres">
      <dgm:prSet presAssocID="{D65DAE4C-17A8-4705-AEE7-F7A2872495F3}" presName="linearFlow" presStyleCnt="0">
        <dgm:presLayoutVars>
          <dgm:resizeHandles val="exact"/>
        </dgm:presLayoutVars>
      </dgm:prSet>
      <dgm:spPr/>
    </dgm:pt>
    <dgm:pt modelId="{0ACFCA30-E459-44DF-B523-31523C97D7DA}" type="pres">
      <dgm:prSet presAssocID="{C3C48077-C065-417A-9B03-4E095CDD6205}" presName="node" presStyleLbl="node1" presStyleIdx="0" presStyleCnt="5">
        <dgm:presLayoutVars>
          <dgm:bulletEnabled val="1"/>
        </dgm:presLayoutVars>
      </dgm:prSet>
      <dgm:spPr/>
    </dgm:pt>
    <dgm:pt modelId="{FC3DD947-875A-4B3D-8B2A-A37E2D7DD020}" type="pres">
      <dgm:prSet presAssocID="{A4EC5ECF-9EE5-4042-B079-90CEF1E86079}" presName="sibTrans" presStyleLbl="sibTrans2D1" presStyleIdx="0" presStyleCnt="4"/>
      <dgm:spPr/>
    </dgm:pt>
    <dgm:pt modelId="{B0B03C4D-22D4-4F85-8513-D58F083351DC}" type="pres">
      <dgm:prSet presAssocID="{A4EC5ECF-9EE5-4042-B079-90CEF1E86079}" presName="connectorText" presStyleLbl="sibTrans2D1" presStyleIdx="0" presStyleCnt="4"/>
      <dgm:spPr/>
    </dgm:pt>
    <dgm:pt modelId="{B31C8096-F640-44CE-B10C-8C6672ADBDEA}" type="pres">
      <dgm:prSet presAssocID="{80883345-A707-48E3-835E-A6DEFDF7416A}" presName="node" presStyleLbl="node1" presStyleIdx="1" presStyleCnt="5">
        <dgm:presLayoutVars>
          <dgm:bulletEnabled val="1"/>
        </dgm:presLayoutVars>
      </dgm:prSet>
      <dgm:spPr/>
    </dgm:pt>
    <dgm:pt modelId="{D0726014-ACE2-4665-96B4-67F878700941}" type="pres">
      <dgm:prSet presAssocID="{B88D1CB9-9B61-480C-8AC1-C90138ED5F32}" presName="sibTrans" presStyleLbl="sibTrans2D1" presStyleIdx="1" presStyleCnt="4"/>
      <dgm:spPr/>
    </dgm:pt>
    <dgm:pt modelId="{6E464FD4-C24C-4756-8AEF-5D46C81C1698}" type="pres">
      <dgm:prSet presAssocID="{B88D1CB9-9B61-480C-8AC1-C90138ED5F32}" presName="connectorText" presStyleLbl="sibTrans2D1" presStyleIdx="1" presStyleCnt="4"/>
      <dgm:spPr/>
    </dgm:pt>
    <dgm:pt modelId="{DEDE95AB-B479-4659-9E6C-F3566A2D9A45}" type="pres">
      <dgm:prSet presAssocID="{8AD9E91B-F8BF-410D-97CA-EDF093909C45}" presName="node" presStyleLbl="node1" presStyleIdx="2" presStyleCnt="5">
        <dgm:presLayoutVars>
          <dgm:bulletEnabled val="1"/>
        </dgm:presLayoutVars>
      </dgm:prSet>
      <dgm:spPr/>
    </dgm:pt>
    <dgm:pt modelId="{EF15CB4B-C607-47D2-BD37-BFF87EA32DEB}" type="pres">
      <dgm:prSet presAssocID="{5506289B-EEC7-4F19-8973-DF5D3DCE7014}" presName="sibTrans" presStyleLbl="sibTrans2D1" presStyleIdx="2" presStyleCnt="4"/>
      <dgm:spPr/>
    </dgm:pt>
    <dgm:pt modelId="{C9180689-197B-460B-9AC3-542A8C4A4562}" type="pres">
      <dgm:prSet presAssocID="{5506289B-EEC7-4F19-8973-DF5D3DCE7014}" presName="connectorText" presStyleLbl="sibTrans2D1" presStyleIdx="2" presStyleCnt="4"/>
      <dgm:spPr/>
    </dgm:pt>
    <dgm:pt modelId="{F3671FA6-99F9-4925-AF50-173CD046645F}" type="pres">
      <dgm:prSet presAssocID="{B624B904-15E8-46A1-AD77-4665FEC492F3}" presName="node" presStyleLbl="node1" presStyleIdx="3" presStyleCnt="5">
        <dgm:presLayoutVars>
          <dgm:bulletEnabled val="1"/>
        </dgm:presLayoutVars>
      </dgm:prSet>
      <dgm:spPr/>
    </dgm:pt>
    <dgm:pt modelId="{A4F44C92-7E1E-439F-83CF-3BD4A675575D}" type="pres">
      <dgm:prSet presAssocID="{49024474-C69B-49A5-949A-D03D22BDF8C0}" presName="sibTrans" presStyleLbl="sibTrans2D1" presStyleIdx="3" presStyleCnt="4"/>
      <dgm:spPr/>
    </dgm:pt>
    <dgm:pt modelId="{DD13E246-1682-42B6-8F85-A4DE1C54EF54}" type="pres">
      <dgm:prSet presAssocID="{49024474-C69B-49A5-949A-D03D22BDF8C0}" presName="connectorText" presStyleLbl="sibTrans2D1" presStyleIdx="3" presStyleCnt="4"/>
      <dgm:spPr/>
    </dgm:pt>
    <dgm:pt modelId="{11BEDEA4-FCCC-436D-87EA-717197872349}" type="pres">
      <dgm:prSet presAssocID="{C2BB0F4C-CCCE-43ED-B3DF-4433D3F9EA3D}" presName="node" presStyleLbl="node1" presStyleIdx="4" presStyleCnt="5">
        <dgm:presLayoutVars>
          <dgm:bulletEnabled val="1"/>
        </dgm:presLayoutVars>
      </dgm:prSet>
      <dgm:spPr/>
    </dgm:pt>
  </dgm:ptLst>
  <dgm:cxnLst>
    <dgm:cxn modelId="{29397A0B-64FF-44F8-9324-F80A09AB4D19}" srcId="{D65DAE4C-17A8-4705-AEE7-F7A2872495F3}" destId="{80883345-A707-48E3-835E-A6DEFDF7416A}" srcOrd="1" destOrd="0" parTransId="{EF9DEA95-8BF0-4031-8D0D-5B097EE71749}" sibTransId="{B88D1CB9-9B61-480C-8AC1-C90138ED5F32}"/>
    <dgm:cxn modelId="{2D33480F-4A4F-4FAF-90FB-E756E17D4148}" type="presOf" srcId="{A4EC5ECF-9EE5-4042-B079-90CEF1E86079}" destId="{FC3DD947-875A-4B3D-8B2A-A37E2D7DD020}" srcOrd="0" destOrd="0" presId="urn:microsoft.com/office/officeart/2005/8/layout/process2"/>
    <dgm:cxn modelId="{5724F21B-4343-41ED-97E1-D785DA3F9CD7}" type="presOf" srcId="{5506289B-EEC7-4F19-8973-DF5D3DCE7014}" destId="{C9180689-197B-460B-9AC3-542A8C4A4562}" srcOrd="1" destOrd="0" presId="urn:microsoft.com/office/officeart/2005/8/layout/process2"/>
    <dgm:cxn modelId="{711CA21E-B100-4A5E-B08E-ACC504CF872A}" type="presOf" srcId="{8AD9E91B-F8BF-410D-97CA-EDF093909C45}" destId="{DEDE95AB-B479-4659-9E6C-F3566A2D9A45}" srcOrd="0" destOrd="0" presId="urn:microsoft.com/office/officeart/2005/8/layout/process2"/>
    <dgm:cxn modelId="{5FDEF139-EBBE-4871-BE58-E6638C40617C}" type="presOf" srcId="{80883345-A707-48E3-835E-A6DEFDF7416A}" destId="{B31C8096-F640-44CE-B10C-8C6672ADBDEA}" srcOrd="0" destOrd="0" presId="urn:microsoft.com/office/officeart/2005/8/layout/process2"/>
    <dgm:cxn modelId="{BECBBD5E-41DF-4A59-8492-A2DE302AE0A6}" type="presOf" srcId="{49024474-C69B-49A5-949A-D03D22BDF8C0}" destId="{A4F44C92-7E1E-439F-83CF-3BD4A675575D}" srcOrd="0" destOrd="0" presId="urn:microsoft.com/office/officeart/2005/8/layout/process2"/>
    <dgm:cxn modelId="{53B5C651-4C97-406F-A8AA-81072E61798D}" type="presOf" srcId="{C3C48077-C065-417A-9B03-4E095CDD6205}" destId="{0ACFCA30-E459-44DF-B523-31523C97D7DA}" srcOrd="0" destOrd="0" presId="urn:microsoft.com/office/officeart/2005/8/layout/process2"/>
    <dgm:cxn modelId="{E0296254-8AE7-4823-A764-F8E4CBE7E184}" type="presOf" srcId="{5506289B-EEC7-4F19-8973-DF5D3DCE7014}" destId="{EF15CB4B-C607-47D2-BD37-BFF87EA32DEB}" srcOrd="0" destOrd="0" presId="urn:microsoft.com/office/officeart/2005/8/layout/process2"/>
    <dgm:cxn modelId="{0D197B7A-F979-469A-BB7A-5A72A82C22CF}" srcId="{D65DAE4C-17A8-4705-AEE7-F7A2872495F3}" destId="{C2BB0F4C-CCCE-43ED-B3DF-4433D3F9EA3D}" srcOrd="4" destOrd="0" parTransId="{25AED921-4D27-4D68-B7C9-4660CFBA3149}" sibTransId="{F969D709-161A-4E38-B620-8996169F0F44}"/>
    <dgm:cxn modelId="{C7B9657B-59B2-4DFD-AAF8-6B4DF2CC10EC}" type="presOf" srcId="{B88D1CB9-9B61-480C-8AC1-C90138ED5F32}" destId="{D0726014-ACE2-4665-96B4-67F878700941}" srcOrd="0" destOrd="0" presId="urn:microsoft.com/office/officeart/2005/8/layout/process2"/>
    <dgm:cxn modelId="{B0238388-E67E-4606-92A7-3B9C53668A60}" srcId="{D65DAE4C-17A8-4705-AEE7-F7A2872495F3}" destId="{8AD9E91B-F8BF-410D-97CA-EDF093909C45}" srcOrd="2" destOrd="0" parTransId="{E90781BD-A55B-4618-8C97-BBE99666C92E}" sibTransId="{5506289B-EEC7-4F19-8973-DF5D3DCE7014}"/>
    <dgm:cxn modelId="{4A8BBE91-DDB4-42F6-BD8F-C1CD604F73FD}" type="presOf" srcId="{C2BB0F4C-CCCE-43ED-B3DF-4433D3F9EA3D}" destId="{11BEDEA4-FCCC-436D-87EA-717197872349}" srcOrd="0" destOrd="0" presId="urn:microsoft.com/office/officeart/2005/8/layout/process2"/>
    <dgm:cxn modelId="{62CB17BB-9B9F-406D-8D85-1E95888DD473}" type="presOf" srcId="{49024474-C69B-49A5-949A-D03D22BDF8C0}" destId="{DD13E246-1682-42B6-8F85-A4DE1C54EF54}" srcOrd="1" destOrd="0" presId="urn:microsoft.com/office/officeart/2005/8/layout/process2"/>
    <dgm:cxn modelId="{9739D4C2-A63C-4C9F-8703-2E4F6C988E52}" type="presOf" srcId="{A4EC5ECF-9EE5-4042-B079-90CEF1E86079}" destId="{B0B03C4D-22D4-4F85-8513-D58F083351DC}" srcOrd="1" destOrd="0" presId="urn:microsoft.com/office/officeart/2005/8/layout/process2"/>
    <dgm:cxn modelId="{B3C2CEC7-EAC0-455D-9A19-CC9BE8CC0A05}" type="presOf" srcId="{B624B904-15E8-46A1-AD77-4665FEC492F3}" destId="{F3671FA6-99F9-4925-AF50-173CD046645F}" srcOrd="0" destOrd="0" presId="urn:microsoft.com/office/officeart/2005/8/layout/process2"/>
    <dgm:cxn modelId="{59DDEBE3-36AF-4AD7-B295-5FC0BECF77C1}" type="presOf" srcId="{B88D1CB9-9B61-480C-8AC1-C90138ED5F32}" destId="{6E464FD4-C24C-4756-8AEF-5D46C81C1698}" srcOrd="1" destOrd="0" presId="urn:microsoft.com/office/officeart/2005/8/layout/process2"/>
    <dgm:cxn modelId="{6DD6DFEC-310D-480C-8B63-6AD9F579D6FE}" type="presOf" srcId="{D65DAE4C-17A8-4705-AEE7-F7A2872495F3}" destId="{FEF67F1D-537F-43F1-8667-D25C7CC80CC3}" srcOrd="0" destOrd="0" presId="urn:microsoft.com/office/officeart/2005/8/layout/process2"/>
    <dgm:cxn modelId="{91BC8EED-C6C4-4B74-8B6F-B4B499D0D9B9}" srcId="{D65DAE4C-17A8-4705-AEE7-F7A2872495F3}" destId="{C3C48077-C065-417A-9B03-4E095CDD6205}" srcOrd="0" destOrd="0" parTransId="{534CD5EF-9985-486B-BDE3-25F18BF9982E}" sibTransId="{A4EC5ECF-9EE5-4042-B079-90CEF1E86079}"/>
    <dgm:cxn modelId="{C59E38FC-189F-484E-B714-C6EA9D16D0D8}" srcId="{D65DAE4C-17A8-4705-AEE7-F7A2872495F3}" destId="{B624B904-15E8-46A1-AD77-4665FEC492F3}" srcOrd="3" destOrd="0" parTransId="{2D305FA0-0A6F-4692-AD75-88E307D56B77}" sibTransId="{49024474-C69B-49A5-949A-D03D22BDF8C0}"/>
    <dgm:cxn modelId="{932FD5FB-DC8F-4CD4-99DA-1D12C2297AB3}" type="presParOf" srcId="{FEF67F1D-537F-43F1-8667-D25C7CC80CC3}" destId="{0ACFCA30-E459-44DF-B523-31523C97D7DA}" srcOrd="0" destOrd="0" presId="urn:microsoft.com/office/officeart/2005/8/layout/process2"/>
    <dgm:cxn modelId="{7E088164-CED0-4F3D-BEB0-43ECC833F5FD}" type="presParOf" srcId="{FEF67F1D-537F-43F1-8667-D25C7CC80CC3}" destId="{FC3DD947-875A-4B3D-8B2A-A37E2D7DD020}" srcOrd="1" destOrd="0" presId="urn:microsoft.com/office/officeart/2005/8/layout/process2"/>
    <dgm:cxn modelId="{6C6C6882-8455-4CEC-A7AC-E32219546DCD}" type="presParOf" srcId="{FC3DD947-875A-4B3D-8B2A-A37E2D7DD020}" destId="{B0B03C4D-22D4-4F85-8513-D58F083351DC}" srcOrd="0" destOrd="0" presId="urn:microsoft.com/office/officeart/2005/8/layout/process2"/>
    <dgm:cxn modelId="{3EEE1727-60F3-42FE-B3E1-14BC73FBD5CD}" type="presParOf" srcId="{FEF67F1D-537F-43F1-8667-D25C7CC80CC3}" destId="{B31C8096-F640-44CE-B10C-8C6672ADBDEA}" srcOrd="2" destOrd="0" presId="urn:microsoft.com/office/officeart/2005/8/layout/process2"/>
    <dgm:cxn modelId="{34FFF60B-125E-468E-8D4D-5742723938CD}" type="presParOf" srcId="{FEF67F1D-537F-43F1-8667-D25C7CC80CC3}" destId="{D0726014-ACE2-4665-96B4-67F878700941}" srcOrd="3" destOrd="0" presId="urn:microsoft.com/office/officeart/2005/8/layout/process2"/>
    <dgm:cxn modelId="{8F6FB96F-8094-4CAF-97BC-436707EAFE59}" type="presParOf" srcId="{D0726014-ACE2-4665-96B4-67F878700941}" destId="{6E464FD4-C24C-4756-8AEF-5D46C81C1698}" srcOrd="0" destOrd="0" presId="urn:microsoft.com/office/officeart/2005/8/layout/process2"/>
    <dgm:cxn modelId="{22563235-F8B1-496F-BB69-F992CB6FAAF3}" type="presParOf" srcId="{FEF67F1D-537F-43F1-8667-D25C7CC80CC3}" destId="{DEDE95AB-B479-4659-9E6C-F3566A2D9A45}" srcOrd="4" destOrd="0" presId="urn:microsoft.com/office/officeart/2005/8/layout/process2"/>
    <dgm:cxn modelId="{B505780A-E48A-4178-9394-4D3DD265C40C}" type="presParOf" srcId="{FEF67F1D-537F-43F1-8667-D25C7CC80CC3}" destId="{EF15CB4B-C607-47D2-BD37-BFF87EA32DEB}" srcOrd="5" destOrd="0" presId="urn:microsoft.com/office/officeart/2005/8/layout/process2"/>
    <dgm:cxn modelId="{5AEC0636-6257-40F9-9BB7-0BADA4F79CFE}" type="presParOf" srcId="{EF15CB4B-C607-47D2-BD37-BFF87EA32DEB}" destId="{C9180689-197B-460B-9AC3-542A8C4A4562}" srcOrd="0" destOrd="0" presId="urn:microsoft.com/office/officeart/2005/8/layout/process2"/>
    <dgm:cxn modelId="{BCE3235E-5D3F-4F73-827B-AF32652A877E}" type="presParOf" srcId="{FEF67F1D-537F-43F1-8667-D25C7CC80CC3}" destId="{F3671FA6-99F9-4925-AF50-173CD046645F}" srcOrd="6" destOrd="0" presId="urn:microsoft.com/office/officeart/2005/8/layout/process2"/>
    <dgm:cxn modelId="{5F5731AC-3498-4CC9-A400-A2E8CD29D62C}" type="presParOf" srcId="{FEF67F1D-537F-43F1-8667-D25C7CC80CC3}" destId="{A4F44C92-7E1E-439F-83CF-3BD4A675575D}" srcOrd="7" destOrd="0" presId="urn:microsoft.com/office/officeart/2005/8/layout/process2"/>
    <dgm:cxn modelId="{F4DAB197-DB84-4973-B5E3-FDDF8A5DE196}" type="presParOf" srcId="{A4F44C92-7E1E-439F-83CF-3BD4A675575D}" destId="{DD13E246-1682-42B6-8F85-A4DE1C54EF54}" srcOrd="0" destOrd="0" presId="urn:microsoft.com/office/officeart/2005/8/layout/process2"/>
    <dgm:cxn modelId="{79E9F550-7405-4736-A814-8941B366A0BF}" type="presParOf" srcId="{FEF67F1D-537F-43F1-8667-D25C7CC80CC3}" destId="{11BEDEA4-FCCC-436D-87EA-717197872349}"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CFCA30-E459-44DF-B523-31523C97D7DA}">
      <dsp:nvSpPr>
        <dsp:cNvPr id="0" name=""/>
        <dsp:cNvSpPr/>
      </dsp:nvSpPr>
      <dsp:spPr>
        <a:xfrm>
          <a:off x="2115661" y="633"/>
          <a:ext cx="2055176" cy="74164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a:latin typeface="Calibri"/>
            </a:rPr>
            <a:t>Safety circular arrives in </a:t>
          </a:r>
          <a:r>
            <a:rPr lang="en-US" sz="1400" b="1" kern="1200">
              <a:latin typeface="Calibri"/>
            </a:rPr>
            <a:t>email</a:t>
          </a:r>
          <a:r>
            <a:rPr lang="en-US" sz="1400" kern="1200">
              <a:latin typeface="Calibri"/>
            </a:rPr>
            <a:t> (PDF in Malayalam).</a:t>
          </a:r>
        </a:p>
      </dsp:txBody>
      <dsp:txXfrm>
        <a:off x="2137383" y="22355"/>
        <a:ext cx="2011732" cy="698204"/>
      </dsp:txXfrm>
    </dsp:sp>
    <dsp:sp modelId="{FC3DD947-875A-4B3D-8B2A-A37E2D7DD020}">
      <dsp:nvSpPr>
        <dsp:cNvPr id="0" name=""/>
        <dsp:cNvSpPr/>
      </dsp:nvSpPr>
      <dsp:spPr>
        <a:xfrm rot="5400000">
          <a:off x="3004190" y="760823"/>
          <a:ext cx="278118" cy="33374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043127" y="788635"/>
        <a:ext cx="200245" cy="194683"/>
      </dsp:txXfrm>
    </dsp:sp>
    <dsp:sp modelId="{B31C8096-F640-44CE-B10C-8C6672ADBDEA}">
      <dsp:nvSpPr>
        <dsp:cNvPr id="0" name=""/>
        <dsp:cNvSpPr/>
      </dsp:nvSpPr>
      <dsp:spPr>
        <a:xfrm>
          <a:off x="2115661" y="1113106"/>
          <a:ext cx="2055176" cy="74164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latin typeface="Calibri"/>
            </a:rPr>
            <a:t>OCR + NLP</a:t>
          </a:r>
          <a:r>
            <a:rPr lang="en-US" sz="1400" kern="1200">
              <a:latin typeface="Calibri"/>
            </a:rPr>
            <a:t> → extract text → auto-translate → generate </a:t>
          </a:r>
          <a:r>
            <a:rPr lang="en-US" sz="1400" b="1" kern="1200">
              <a:latin typeface="Calibri"/>
            </a:rPr>
            <a:t>2-line summary</a:t>
          </a:r>
          <a:r>
            <a:rPr lang="en-US" sz="1400" kern="1200">
              <a:latin typeface="Calibri"/>
            </a:rPr>
            <a:t>.</a:t>
          </a:r>
        </a:p>
      </dsp:txBody>
      <dsp:txXfrm>
        <a:off x="2137383" y="1134828"/>
        <a:ext cx="2011732" cy="698204"/>
      </dsp:txXfrm>
    </dsp:sp>
    <dsp:sp modelId="{D0726014-ACE2-4665-96B4-67F878700941}">
      <dsp:nvSpPr>
        <dsp:cNvPr id="0" name=""/>
        <dsp:cNvSpPr/>
      </dsp:nvSpPr>
      <dsp:spPr>
        <a:xfrm rot="5400000">
          <a:off x="3004190" y="1873295"/>
          <a:ext cx="278118" cy="33374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043127" y="1901107"/>
        <a:ext cx="200245" cy="194683"/>
      </dsp:txXfrm>
    </dsp:sp>
    <dsp:sp modelId="{DEDE95AB-B479-4659-9E6C-F3566A2D9A45}">
      <dsp:nvSpPr>
        <dsp:cNvPr id="0" name=""/>
        <dsp:cNvSpPr/>
      </dsp:nvSpPr>
      <dsp:spPr>
        <a:xfrm>
          <a:off x="2115661" y="2225578"/>
          <a:ext cx="2055176" cy="74164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latin typeface="Calibri"/>
            </a:rPr>
            <a:t>Classifier tags it as </a:t>
          </a:r>
          <a:r>
            <a:rPr lang="en-US" sz="1400" b="1" kern="1200">
              <a:latin typeface="Calibri"/>
            </a:rPr>
            <a:t>safety-critical</a:t>
          </a:r>
          <a:r>
            <a:rPr lang="en-US" sz="1400" kern="1200">
              <a:latin typeface="Calibri"/>
            </a:rPr>
            <a:t> → routes to HR, Ops, Station Managers.</a:t>
          </a:r>
        </a:p>
      </dsp:txBody>
      <dsp:txXfrm>
        <a:off x="2137383" y="2247300"/>
        <a:ext cx="2011732" cy="698204"/>
      </dsp:txXfrm>
    </dsp:sp>
    <dsp:sp modelId="{EF15CB4B-C607-47D2-BD37-BFF87EA32DEB}">
      <dsp:nvSpPr>
        <dsp:cNvPr id="0" name=""/>
        <dsp:cNvSpPr/>
      </dsp:nvSpPr>
      <dsp:spPr>
        <a:xfrm rot="5400000">
          <a:off x="3004190" y="2985767"/>
          <a:ext cx="278118" cy="33374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043127" y="3013579"/>
        <a:ext cx="200245" cy="194683"/>
      </dsp:txXfrm>
    </dsp:sp>
    <dsp:sp modelId="{F3671FA6-99F9-4925-AF50-173CD046645F}">
      <dsp:nvSpPr>
        <dsp:cNvPr id="0" name=""/>
        <dsp:cNvSpPr/>
      </dsp:nvSpPr>
      <dsp:spPr>
        <a:xfrm>
          <a:off x="2115661" y="3338050"/>
          <a:ext cx="2055176" cy="74164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a:latin typeface="Calibri"/>
            </a:rPr>
            <a:t>Stored in Database → searchable later (“Find all safety circulars of 2024”).</a:t>
          </a:r>
        </a:p>
      </dsp:txBody>
      <dsp:txXfrm>
        <a:off x="2137383" y="3359772"/>
        <a:ext cx="2011732" cy="698204"/>
      </dsp:txXfrm>
    </dsp:sp>
    <dsp:sp modelId="{A4F44C92-7E1E-439F-83CF-3BD4A675575D}">
      <dsp:nvSpPr>
        <dsp:cNvPr id="0" name=""/>
        <dsp:cNvSpPr/>
      </dsp:nvSpPr>
      <dsp:spPr>
        <a:xfrm rot="5400000">
          <a:off x="3004190" y="4098240"/>
          <a:ext cx="278118" cy="333741"/>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043127" y="4126052"/>
        <a:ext cx="200245" cy="194683"/>
      </dsp:txXfrm>
    </dsp:sp>
    <dsp:sp modelId="{11BEDEA4-FCCC-436D-87EA-717197872349}">
      <dsp:nvSpPr>
        <dsp:cNvPr id="0" name=""/>
        <dsp:cNvSpPr/>
      </dsp:nvSpPr>
      <dsp:spPr>
        <a:xfrm>
          <a:off x="2115661" y="4450522"/>
          <a:ext cx="2055176" cy="74164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latin typeface="Calibri"/>
            </a:rPr>
            <a:t>Alert sent: </a:t>
          </a:r>
          <a:r>
            <a:rPr lang="en-US" sz="1400" b="1" kern="1200">
              <a:latin typeface="Calibri"/>
            </a:rPr>
            <a:t>“New Safety Directive (Deadline Sept 15) – Action Required.”</a:t>
          </a:r>
          <a:endParaRPr lang="en-US" sz="1400" kern="1200">
            <a:latin typeface="Calibri"/>
          </a:endParaRPr>
        </a:p>
      </dsp:txBody>
      <dsp:txXfrm>
        <a:off x="2137383" y="4472244"/>
        <a:ext cx="2011732" cy="69820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9B77-F666-7F48-C99F-212016930D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C528D9C-7143-48DE-BB6A-02CD73FBCA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8B3480-BF38-5126-0100-9BB73A40BDAD}"/>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5" name="Footer Placeholder 4">
            <a:extLst>
              <a:ext uri="{FF2B5EF4-FFF2-40B4-BE49-F238E27FC236}">
                <a16:creationId xmlns:a16="http://schemas.microsoft.com/office/drawing/2014/main" id="{1DB1AD21-AF6E-BAB1-0029-39902AC5D8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3BC886-2C04-D87F-2E9C-1D7EE1E86FF9}"/>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367976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E6362-208E-5AFB-781D-BC77F69CD3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9479E0-F16A-0F01-7D94-9A67D54C4B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9BC12B-FFC7-D6A3-D9BE-0DAE06E809A6}"/>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5" name="Footer Placeholder 4">
            <a:extLst>
              <a:ext uri="{FF2B5EF4-FFF2-40B4-BE49-F238E27FC236}">
                <a16:creationId xmlns:a16="http://schemas.microsoft.com/office/drawing/2014/main" id="{798E9087-8A5B-C369-1352-BC8EE41FDE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FF5915-8ABA-7897-ECAE-93B2C33AEE5B}"/>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3562177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D09A4-5894-F8A7-62CF-3C61B6FFB0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7F03BC-1951-06A5-F596-F5E80816BE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F575DF-B76A-5C44-D35D-C4693BE2BDBE}"/>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5" name="Footer Placeholder 4">
            <a:extLst>
              <a:ext uri="{FF2B5EF4-FFF2-40B4-BE49-F238E27FC236}">
                <a16:creationId xmlns:a16="http://schemas.microsoft.com/office/drawing/2014/main" id="{F6030712-CF3E-23C9-81DB-8D4D002261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68BE5D-FADD-6460-5A88-A731D344F7E7}"/>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2069352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AF7DD-CA42-7877-D6D9-48A0577349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E5F48F-00D2-CD47-29FD-1270378B57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3A6651-8B5C-8D8B-6DE5-94D6FD43A5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1A90B0F-85E2-6D7F-80A5-711CF26E8D2F}"/>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6" name="Footer Placeholder 5">
            <a:extLst>
              <a:ext uri="{FF2B5EF4-FFF2-40B4-BE49-F238E27FC236}">
                <a16:creationId xmlns:a16="http://schemas.microsoft.com/office/drawing/2014/main" id="{E31E2117-8C2E-FE83-3D54-32598E422D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37773A-0414-729C-BEA2-3EDE9D9AACD5}"/>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1989273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EC460-477A-1306-C0A2-1BBEE0BFF5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52C9C5-6773-8E9E-227D-98D2AC5819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2ED1C3-98BF-8B03-4EA3-37197F4BDC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6099AE-200A-C3D8-584B-8B71F67DC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FF2BBD-AD06-4878-2793-18E34757F4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A06214-157D-D064-5694-FCF6C480FB8E}"/>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8" name="Footer Placeholder 7">
            <a:extLst>
              <a:ext uri="{FF2B5EF4-FFF2-40B4-BE49-F238E27FC236}">
                <a16:creationId xmlns:a16="http://schemas.microsoft.com/office/drawing/2014/main" id="{E60180FE-D0E9-110B-AAB9-A9B6C622E6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31948F-4BCB-9198-0650-B0CD9BCD84A6}"/>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4134154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C21F-85B4-5C08-1CAA-CE94E12CC0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B7AF5C-6B05-597C-1275-6E2F8AA76CC3}"/>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4" name="Footer Placeholder 3">
            <a:extLst>
              <a:ext uri="{FF2B5EF4-FFF2-40B4-BE49-F238E27FC236}">
                <a16:creationId xmlns:a16="http://schemas.microsoft.com/office/drawing/2014/main" id="{E0AF5B4E-B789-5B2C-EFB3-4C8F51211AC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7823F8-F123-8362-338A-B83944DEE69B}"/>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233016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77D9C9-7D3D-32B3-95AD-F0275AB7E770}"/>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3" name="Footer Placeholder 2">
            <a:extLst>
              <a:ext uri="{FF2B5EF4-FFF2-40B4-BE49-F238E27FC236}">
                <a16:creationId xmlns:a16="http://schemas.microsoft.com/office/drawing/2014/main" id="{EC1EFD79-518E-651A-27D1-62189B574EA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A4D639-C5A5-520C-9C78-5217239317D8}"/>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345858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DAED-6C4A-12AD-B305-B033B1BA1D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D59B7B-6E6C-0EF6-62DC-6D8FAC85C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35C343-716A-3235-DB92-5448AED57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11E1D4-EC28-093A-3947-C85E0352B1EA}"/>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6" name="Footer Placeholder 5">
            <a:extLst>
              <a:ext uri="{FF2B5EF4-FFF2-40B4-BE49-F238E27FC236}">
                <a16:creationId xmlns:a16="http://schemas.microsoft.com/office/drawing/2014/main" id="{12CE190F-9F29-465C-F2FD-3333A53FFE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DC5CF1-396C-2D5E-BDC1-D76722AF898F}"/>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351120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882F6-C12F-F94A-DD3C-F277443D74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E95746-14C2-3ABE-862C-9C0C367FE9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74A318-080F-B439-13D2-BA6902289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C93FD0-5193-C29B-1057-D52B39B6D2A3}"/>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6" name="Footer Placeholder 5">
            <a:extLst>
              <a:ext uri="{FF2B5EF4-FFF2-40B4-BE49-F238E27FC236}">
                <a16:creationId xmlns:a16="http://schemas.microsoft.com/office/drawing/2014/main" id="{F5633B1C-2D9D-4300-A324-3926240C78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19AF44-513C-3783-C2B3-27FAEFBC35A7}"/>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98733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886E9-9909-43ED-D620-BFC01C2A8A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D40E56-9BD0-CC17-73FF-9272916A24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29AC24-C35A-2B25-649B-C0EBB29306F0}"/>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5" name="Footer Placeholder 4">
            <a:extLst>
              <a:ext uri="{FF2B5EF4-FFF2-40B4-BE49-F238E27FC236}">
                <a16:creationId xmlns:a16="http://schemas.microsoft.com/office/drawing/2014/main" id="{EFB6F303-1927-34B0-CF02-4B604A61B4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55029F-F072-1B1E-726F-06E1D1A1C0E0}"/>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3828281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C5CF5C-087D-C966-D433-760AC31FE2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AF4762-A918-3D71-ACBC-814150C316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296206-CCCA-A6BC-514A-5531C11BBB06}"/>
              </a:ext>
            </a:extLst>
          </p:cNvPr>
          <p:cNvSpPr>
            <a:spLocks noGrp="1"/>
          </p:cNvSpPr>
          <p:nvPr>
            <p:ph type="dt" sz="half" idx="10"/>
          </p:nvPr>
        </p:nvSpPr>
        <p:spPr/>
        <p:txBody>
          <a:bodyPr/>
          <a:lstStyle/>
          <a:p>
            <a:fld id="{413EB3D3-1ED4-40CE-A318-2CB885E7280E}" type="datetimeFigureOut">
              <a:rPr lang="en-IN" smtClean="0"/>
              <a:t>08-12-2025</a:t>
            </a:fld>
            <a:endParaRPr lang="en-IN"/>
          </a:p>
        </p:txBody>
      </p:sp>
      <p:sp>
        <p:nvSpPr>
          <p:cNvPr id="5" name="Footer Placeholder 4">
            <a:extLst>
              <a:ext uri="{FF2B5EF4-FFF2-40B4-BE49-F238E27FC236}">
                <a16:creationId xmlns:a16="http://schemas.microsoft.com/office/drawing/2014/main" id="{4D80E619-225C-B6D9-96D2-F735371464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5A368E-04B1-96D5-AE64-9EE9D4EAC878}"/>
              </a:ext>
            </a:extLst>
          </p:cNvPr>
          <p:cNvSpPr>
            <a:spLocks noGrp="1"/>
          </p:cNvSpPr>
          <p:nvPr>
            <p:ph type="sldNum" sz="quarter" idx="12"/>
          </p:nvPr>
        </p:nvSpPr>
        <p:spPr/>
        <p:txBody>
          <a:bodyPr/>
          <a:lstStyle/>
          <a:p>
            <a:fld id="{8F87620B-FE33-4961-9B90-2E3D940B547D}" type="slidenum">
              <a:rPr lang="en-IN" smtClean="0"/>
              <a:t>‹#›</a:t>
            </a:fld>
            <a:endParaRPr lang="en-IN"/>
          </a:p>
        </p:txBody>
      </p:sp>
    </p:spTree>
    <p:extLst>
      <p:ext uri="{BB962C8B-B14F-4D97-AF65-F5344CB8AC3E}">
        <p14:creationId xmlns:p14="http://schemas.microsoft.com/office/powerpoint/2010/main" val="2373526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D9F8BF-F4B8-24BB-1E20-AE397EF23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CC787C-1B3D-AEB0-E04B-FEDFAB2E56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94E581-7288-8640-BDA7-01DD3D170E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3EB3D3-1ED4-40CE-A318-2CB885E7280E}" type="datetimeFigureOut">
              <a:rPr lang="en-IN" smtClean="0"/>
              <a:t>08-12-2025</a:t>
            </a:fld>
            <a:endParaRPr lang="en-IN"/>
          </a:p>
        </p:txBody>
      </p:sp>
      <p:sp>
        <p:nvSpPr>
          <p:cNvPr id="5" name="Footer Placeholder 4">
            <a:extLst>
              <a:ext uri="{FF2B5EF4-FFF2-40B4-BE49-F238E27FC236}">
                <a16:creationId xmlns:a16="http://schemas.microsoft.com/office/drawing/2014/main" id="{8074302A-8694-CF74-AB69-2C780D164F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259F932-5AD0-DFDA-B2C7-914D3BDF29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87620B-FE33-4961-9B90-2E3D940B547D}" type="slidenum">
              <a:rPr lang="en-IN" smtClean="0"/>
              <a:t>‹#›</a:t>
            </a:fld>
            <a:endParaRPr lang="en-IN"/>
          </a:p>
        </p:txBody>
      </p:sp>
    </p:spTree>
    <p:extLst>
      <p:ext uri="{BB962C8B-B14F-4D97-AF65-F5344CB8AC3E}">
        <p14:creationId xmlns:p14="http://schemas.microsoft.com/office/powerpoint/2010/main" val="4032724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dx.doi.org/10.1155/2014/612970" TargetMode="External"/><Relationship Id="rId2" Type="http://schemas.openxmlformats.org/officeDocument/2006/relationships/hyperlink" Target="https://doi.org/10.48550/arXiv.2505.11177" TargetMode="External"/><Relationship Id="rId1" Type="http://schemas.openxmlformats.org/officeDocument/2006/relationships/slideLayout" Target="../slideLayouts/slideLayout1.xml"/><Relationship Id="rId6" Type="http://schemas.openxmlformats.org/officeDocument/2006/relationships/hyperlink" Target="https://doi.org/10.48550/arXiv.2409.18454" TargetMode="External"/><Relationship Id="rId5" Type="http://schemas.openxmlformats.org/officeDocument/2006/relationships/hyperlink" Target="http://dx.doi.org/10.22068/IJRARE.6.1.63" TargetMode="External"/><Relationship Id="rId4" Type="http://schemas.openxmlformats.org/officeDocument/2006/relationships/hyperlink" Target="https://www.researchgate.net/publication/228946298_A_Scalable_Distributed_File_System_for_Cloud_Comput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BACD0-BC60-9FFB-CF20-145FFDBEDAD9}"/>
              </a:ext>
            </a:extLst>
          </p:cNvPr>
          <p:cNvSpPr>
            <a:spLocks noGrp="1"/>
          </p:cNvSpPr>
          <p:nvPr>
            <p:ph type="ctrTitle"/>
          </p:nvPr>
        </p:nvSpPr>
        <p:spPr>
          <a:xfrm>
            <a:off x="1013791" y="152404"/>
            <a:ext cx="10164418" cy="1465197"/>
          </a:xfrm>
        </p:spPr>
        <p:txBody>
          <a:bodyPr>
            <a:normAutofit/>
          </a:bodyPr>
          <a:lstStyle/>
          <a:p>
            <a:r>
              <a:rPr lang="en-US" sz="3200">
                <a:latin typeface="Times New Roman"/>
                <a:cs typeface="Times New Roman"/>
              </a:rPr>
              <a:t>Shri Ram Murti Smarak College of Engineering &amp; Technology, Bareilly</a:t>
            </a:r>
            <a:br>
              <a:rPr lang="en-US" sz="3200">
                <a:latin typeface="Times New Roman"/>
                <a:cs typeface="Times New Roman"/>
              </a:rPr>
            </a:br>
            <a:r>
              <a:rPr lang="en-US" sz="2400">
                <a:latin typeface="Times New Roman"/>
                <a:cs typeface="Times New Roman"/>
              </a:rPr>
              <a:t>Department of Computer Science &amp; Engineering </a:t>
            </a:r>
            <a:endParaRPr lang="en-IN" sz="240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96F7885-DA5E-D4D3-49DF-2C64B2AEFD5C}"/>
              </a:ext>
            </a:extLst>
          </p:cNvPr>
          <p:cNvSpPr>
            <a:spLocks noGrp="1"/>
          </p:cNvSpPr>
          <p:nvPr>
            <p:ph type="subTitle" idx="1"/>
          </p:nvPr>
        </p:nvSpPr>
        <p:spPr>
          <a:xfrm>
            <a:off x="572975" y="3980481"/>
            <a:ext cx="11330609" cy="871358"/>
          </a:xfrm>
        </p:spPr>
        <p:txBody>
          <a:bodyPr vert="horz" lIns="91440" tIns="45720" rIns="91440" bIns="45720" rtlCol="0" anchor="t">
            <a:normAutofit fontScale="92500" lnSpcReduction="10000"/>
          </a:bodyPr>
          <a:lstStyle/>
          <a:p>
            <a:r>
              <a:rPr lang="en-US" sz="2800">
                <a:latin typeface="Times New Roman"/>
                <a:cs typeface="Times New Roman"/>
              </a:rPr>
              <a:t>Major Project Title:</a:t>
            </a:r>
            <a:endParaRPr lang="en-US" sz="2800" dirty="0">
              <a:latin typeface="Times New Roman" panose="02020603050405020304" pitchFamily="18" charset="0"/>
              <a:cs typeface="Times New Roman" panose="02020603050405020304" pitchFamily="18" charset="0"/>
            </a:endParaRPr>
          </a:p>
          <a:p>
            <a:r>
              <a:rPr lang="en-US" sz="2800" b="1">
                <a:latin typeface="Times New Roman"/>
                <a:cs typeface="Times New Roman"/>
              </a:rPr>
              <a:t>Design and Development of an Document Intelligence &amp; Routing System</a:t>
            </a:r>
          </a:p>
        </p:txBody>
      </p:sp>
      <p:pic>
        <p:nvPicPr>
          <p:cNvPr id="1026" name="Picture 2">
            <a:extLst>
              <a:ext uri="{FF2B5EF4-FFF2-40B4-BE49-F238E27FC236}">
                <a16:creationId xmlns:a16="http://schemas.microsoft.com/office/drawing/2014/main" id="{5E7D1A33-D61C-ED97-6DB2-2056975D4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6313" y="1701108"/>
            <a:ext cx="2279374" cy="227937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38A4AA5-783C-7022-2A9A-572487474D3B}"/>
              </a:ext>
            </a:extLst>
          </p:cNvPr>
          <p:cNvSpPr/>
          <p:nvPr/>
        </p:nvSpPr>
        <p:spPr>
          <a:xfrm>
            <a:off x="1013791" y="4965144"/>
            <a:ext cx="4172598" cy="1938992"/>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a:ln w="0"/>
                <a:effectLst>
                  <a:outerShdw blurRad="38100" dist="19050" dir="2700000" algn="tl" rotWithShape="0">
                    <a:schemeClr val="dk1">
                      <a:alpha val="40000"/>
                    </a:schemeClr>
                  </a:outerShdw>
                </a:effectLst>
                <a:latin typeface="Times New Roman"/>
                <a:cs typeface="Times New Roman"/>
              </a:rPr>
              <a:t>Presented by</a:t>
            </a:r>
            <a:r>
              <a:rPr lang="en-US" sz="2000" b="0" cap="none" spc="0">
                <a:ln w="0"/>
                <a:effectLst>
                  <a:outerShdw blurRad="38100" dist="19050" dir="2700000" algn="tl" rotWithShape="0">
                    <a:schemeClr val="dk1">
                      <a:alpha val="40000"/>
                    </a:schemeClr>
                  </a:outerShdw>
                </a:effectLst>
                <a:latin typeface="Times New Roman"/>
                <a:cs typeface="Times New Roman"/>
              </a:rPr>
              <a:t>: Group </a:t>
            </a:r>
            <a:r>
              <a:rPr lang="en-US" sz="2000">
                <a:ln w="0"/>
                <a:effectLst>
                  <a:outerShdw blurRad="38100" dist="19050" dir="2700000" algn="tl" rotWithShape="0">
                    <a:schemeClr val="dk1">
                      <a:alpha val="40000"/>
                    </a:schemeClr>
                  </a:outerShdw>
                </a:effectLst>
                <a:latin typeface="Times New Roman"/>
                <a:cs typeface="Times New Roman"/>
              </a:rPr>
              <a:t>08</a:t>
            </a:r>
            <a:endParaRPr lang="en-US" sz="2000" b="0" cap="none" spc="0">
              <a:ln w="0"/>
              <a:effectLst>
                <a:outerShdw blurRad="38100" dist="19050" dir="2700000" algn="tl" rotWithShape="0">
                  <a:schemeClr val="dk1">
                    <a:alpha val="40000"/>
                  </a:schemeClr>
                </a:outerShdw>
              </a:effectLst>
              <a:latin typeface="Times New Roman"/>
              <a:cs typeface="Times New Roman"/>
            </a:endParaRPr>
          </a:p>
          <a:p>
            <a:r>
              <a:rPr lang="en-US" sz="2000" dirty="0">
                <a:ln w="0"/>
                <a:effectLst>
                  <a:outerShdw blurRad="38100" dist="19050" dir="2700000" algn="tl" rotWithShape="0">
                    <a:prstClr val="black">
                      <a:alpha val="40000"/>
                    </a:prstClr>
                  </a:outerShdw>
                </a:effectLst>
                <a:latin typeface="Times New Roman"/>
                <a:cs typeface="Times New Roman"/>
              </a:rPr>
              <a:t>Pankhi Gupta (2200140100073)</a:t>
            </a:r>
            <a:endParaRPr lang="en-US">
              <a:latin typeface="Calibri" panose="020F0502020204030204"/>
              <a:ea typeface="Calibri"/>
              <a:cs typeface="Calibri"/>
            </a:endParaRPr>
          </a:p>
          <a:p>
            <a:r>
              <a:rPr lang="en-US" sz="2000">
                <a:ln w="0"/>
                <a:effectLst>
                  <a:outerShdw blurRad="38100" dist="19050" dir="2700000" algn="tl" rotWithShape="0">
                    <a:prstClr val="black">
                      <a:alpha val="40000"/>
                    </a:prstClr>
                  </a:outerShdw>
                </a:effectLst>
                <a:latin typeface="Times New Roman"/>
                <a:cs typeface="Times New Roman"/>
              </a:rPr>
              <a:t>Nivedika Sharma (2200140100072)</a:t>
            </a:r>
            <a:endParaRPr lang="en-US">
              <a:ea typeface="Calibri"/>
              <a:cs typeface="Calibri"/>
            </a:endParaRPr>
          </a:p>
          <a:p>
            <a:r>
              <a:rPr lang="en-US" sz="2000">
                <a:ln w="0"/>
                <a:effectLst>
                  <a:outerShdw blurRad="38100" dist="19050" dir="2700000" algn="tl" rotWithShape="0">
                    <a:prstClr val="black">
                      <a:alpha val="40000"/>
                    </a:prstClr>
                  </a:outerShdw>
                </a:effectLst>
                <a:latin typeface="Times New Roman"/>
                <a:cs typeface="Times New Roman"/>
              </a:rPr>
              <a:t>Sanmita Biswas (2200140100093)</a:t>
            </a:r>
            <a:endParaRPr lang="en-US"/>
          </a:p>
          <a:p>
            <a:r>
              <a:rPr lang="en-US" sz="2000">
                <a:latin typeface="Times New Roman"/>
                <a:cs typeface="Times New Roman"/>
              </a:rPr>
              <a:t>Saumya Gupta (2200140100096)</a:t>
            </a:r>
          </a:p>
          <a:p>
            <a:pPr>
              <a:tabLst>
                <a:tab pos="1173163" algn="l"/>
                <a:tab pos="1630363" algn="l"/>
                <a:tab pos="2087563" algn="l"/>
                <a:tab pos="2544763" algn="l"/>
                <a:tab pos="3001963" algn="l"/>
                <a:tab pos="3459163" algn="l"/>
                <a:tab pos="3916363" algn="l"/>
                <a:tab pos="4373563" algn="l"/>
                <a:tab pos="4830763" algn="l"/>
                <a:tab pos="5287963" algn="l"/>
                <a:tab pos="5745163" algn="l"/>
                <a:tab pos="6202363" algn="l"/>
              </a:tabLst>
            </a:pPr>
            <a:endParaRPr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5A5AF9F-8CE7-0384-1035-4E31D2963E9F}"/>
              </a:ext>
            </a:extLst>
          </p:cNvPr>
          <p:cNvSpPr txBox="1"/>
          <p:nvPr/>
        </p:nvSpPr>
        <p:spPr>
          <a:xfrm>
            <a:off x="9471992" y="4965144"/>
            <a:ext cx="2415209" cy="163121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Project Guide: </a:t>
            </a:r>
          </a:p>
          <a:p>
            <a:r>
              <a:rPr lang="en-US" sz="2000" dirty="0">
                <a:latin typeface="Times New Roman" panose="02020603050405020304" pitchFamily="18" charset="0"/>
                <a:cs typeface="Times New Roman" panose="02020603050405020304" pitchFamily="18" charset="0"/>
              </a:rPr>
              <a:t>Dr. Shahjahan Ali</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Project </a:t>
            </a:r>
            <a:r>
              <a:rPr lang="en-US" sz="2000" dirty="0" err="1">
                <a:latin typeface="Times New Roman" panose="02020603050405020304" pitchFamily="18" charset="0"/>
                <a:cs typeface="Times New Roman" panose="02020603050405020304" pitchFamily="18" charset="0"/>
              </a:rPr>
              <a:t>Incharge</a:t>
            </a:r>
            <a:r>
              <a:rPr lang="en-US" sz="2000" dirty="0">
                <a:latin typeface="Times New Roman" panose="02020603050405020304" pitchFamily="18" charset="0"/>
                <a:cs typeface="Times New Roman" panose="02020603050405020304" pitchFamily="18" charset="0"/>
              </a:rPr>
              <a:t> : </a:t>
            </a:r>
          </a:p>
          <a:p>
            <a:r>
              <a:rPr lang="en-US" sz="2000" dirty="0">
                <a:latin typeface="Times New Roman" panose="02020603050405020304" pitchFamily="18" charset="0"/>
                <a:cs typeface="Times New Roman" panose="02020603050405020304" pitchFamily="18" charset="0"/>
              </a:rPr>
              <a:t>Dr. Jyoti Agarwal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654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5C01B-E1E2-B677-7F0D-DEE3D3C7D58E}"/>
              </a:ext>
            </a:extLst>
          </p:cNvPr>
          <p:cNvSpPr>
            <a:spLocks noGrp="1"/>
          </p:cNvSpPr>
          <p:nvPr>
            <p:ph type="ctrTitle"/>
          </p:nvPr>
        </p:nvSpPr>
        <p:spPr>
          <a:xfrm>
            <a:off x="1524000" y="595590"/>
            <a:ext cx="9144000" cy="587167"/>
          </a:xfrm>
        </p:spPr>
        <p:txBody>
          <a:bodyPr>
            <a:noAutofit/>
          </a:bodyPr>
          <a:lstStyle/>
          <a:p>
            <a:pPr algn="l"/>
            <a:r>
              <a:rPr lang="en-US" sz="5400" dirty="0">
                <a:latin typeface="Times New Roman" panose="02020603050405020304" pitchFamily="18" charset="0"/>
                <a:cs typeface="Times New Roman" panose="02020603050405020304" pitchFamily="18" charset="0"/>
              </a:rPr>
              <a:t>Content</a:t>
            </a: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7EAD5FB-DBF5-2D53-B4C2-8E8F139CBAD5}"/>
              </a:ext>
            </a:extLst>
          </p:cNvPr>
          <p:cNvSpPr>
            <a:spLocks noGrp="1"/>
          </p:cNvSpPr>
          <p:nvPr>
            <p:ph type="subTitle" idx="1"/>
          </p:nvPr>
        </p:nvSpPr>
        <p:spPr>
          <a:xfrm>
            <a:off x="1524000" y="1103243"/>
            <a:ext cx="9144000" cy="2126974"/>
          </a:xfrm>
        </p:spPr>
        <p:txBody>
          <a:bodyPr vert="horz" lIns="91440" tIns="45720" rIns="91440" bIns="45720" rtlCol="0" anchor="t">
            <a:noAutofit/>
          </a:bodyPr>
          <a:lstStyle/>
          <a:p>
            <a:pPr algn="l"/>
            <a:endParaRPr lang="en-US"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dirty="0">
                <a:latin typeface="Times New Roman"/>
                <a:cs typeface="Times New Roman"/>
              </a:rPr>
              <a:t>Introduction</a:t>
            </a:r>
            <a:endParaRPr lang="en-US" dirty="0">
              <a:latin typeface="Times New Roman" panose="02020603050405020304" pitchFamily="18" charset="0"/>
              <a:cs typeface="Times New Roman" panose="02020603050405020304" pitchFamily="18" charset="0"/>
            </a:endParaRPr>
          </a:p>
          <a:p>
            <a:pPr marL="457200" indent="-457200" algn="l">
              <a:buAutoNum type="arabicPeriod"/>
            </a:pPr>
            <a:r>
              <a:rPr lang="en-US" dirty="0">
                <a:latin typeface="Times New Roman"/>
                <a:cs typeface="Times New Roman"/>
              </a:rPr>
              <a:t>Motivation</a:t>
            </a:r>
            <a:endParaRPr lang="en-US"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dirty="0">
                <a:latin typeface="Times New Roman"/>
                <a:cs typeface="Times New Roman"/>
              </a:rPr>
              <a:t>Literature review</a:t>
            </a:r>
          </a:p>
          <a:p>
            <a:pPr marL="457200" indent="-457200" algn="l">
              <a:buFont typeface="+mj-lt"/>
              <a:buAutoNum type="arabicPeriod"/>
            </a:pPr>
            <a:r>
              <a:rPr lang="en-US" dirty="0">
                <a:latin typeface="Times New Roman"/>
                <a:cs typeface="Times New Roman"/>
              </a:rPr>
              <a:t>Problem statement </a:t>
            </a:r>
          </a:p>
          <a:p>
            <a:pPr marL="457200" indent="-457200" algn="l">
              <a:buFont typeface="+mj-lt"/>
              <a:buAutoNum type="arabicPeriod"/>
            </a:pPr>
            <a:r>
              <a:rPr lang="en-US" dirty="0">
                <a:latin typeface="Times New Roman"/>
                <a:cs typeface="Times New Roman"/>
              </a:rPr>
              <a:t>Objectives</a:t>
            </a:r>
          </a:p>
          <a:p>
            <a:pPr marL="457200" indent="-457200" algn="l">
              <a:buFont typeface="+mj-lt"/>
              <a:buAutoNum type="arabicPeriod"/>
            </a:pPr>
            <a:r>
              <a:rPr lang="en-US" dirty="0">
                <a:latin typeface="Times New Roman"/>
                <a:cs typeface="Times New Roman"/>
              </a:rPr>
              <a:t>Proposed solution</a:t>
            </a:r>
          </a:p>
          <a:p>
            <a:pPr marL="457200" indent="-457200" algn="l">
              <a:buFont typeface="+mj-lt"/>
              <a:buAutoNum type="arabicPeriod"/>
            </a:pPr>
            <a:r>
              <a:rPr lang="en-US" dirty="0">
                <a:latin typeface="Times New Roman"/>
                <a:cs typeface="Times New Roman"/>
              </a:rPr>
              <a:t>Methodology</a:t>
            </a:r>
          </a:p>
          <a:p>
            <a:pPr marL="457200" indent="-457200" algn="l">
              <a:buFont typeface="+mj-lt"/>
              <a:buAutoNum type="arabicPeriod"/>
            </a:pPr>
            <a:r>
              <a:rPr lang="en-US" dirty="0">
                <a:latin typeface="Times New Roman"/>
                <a:cs typeface="Times New Roman"/>
              </a:rPr>
              <a:t>Progress  </a:t>
            </a:r>
          </a:p>
          <a:p>
            <a:pPr marL="457200" indent="-457200" algn="l">
              <a:buAutoNum type="arabicPeriod"/>
            </a:pPr>
            <a:r>
              <a:rPr lang="en-US" dirty="0">
                <a:latin typeface="Times New Roman"/>
                <a:cs typeface="Times New Roman"/>
              </a:rPr>
              <a:t>Hardware and Software Requirements</a:t>
            </a:r>
          </a:p>
          <a:p>
            <a:pPr marL="457200" indent="-457200" algn="l">
              <a:buFont typeface="+mj-lt"/>
              <a:buAutoNum type="arabicPeriod"/>
            </a:pPr>
            <a:r>
              <a:rPr lang="en-US" dirty="0">
                <a:latin typeface="Times New Roman"/>
                <a:cs typeface="Times New Roman"/>
              </a:rPr>
              <a:t>Conclusion</a:t>
            </a:r>
          </a:p>
          <a:p>
            <a:pPr marL="457200" indent="-457200" algn="l">
              <a:buAutoNum type="arabicPeriod"/>
            </a:pPr>
            <a:r>
              <a:rPr lang="en-US" dirty="0">
                <a:latin typeface="Times New Roman"/>
                <a:cs typeface="Times New Roman"/>
              </a:rPr>
              <a:t>References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0996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1D2B1-08E6-3B8F-91E7-451970FAF6BD}"/>
              </a:ext>
            </a:extLst>
          </p:cNvPr>
          <p:cNvSpPr>
            <a:spLocks noGrp="1"/>
          </p:cNvSpPr>
          <p:nvPr>
            <p:ph type="ctrTitle"/>
          </p:nvPr>
        </p:nvSpPr>
        <p:spPr>
          <a:xfrm>
            <a:off x="1404730" y="745055"/>
            <a:ext cx="9144000" cy="835646"/>
          </a:xfrm>
        </p:spPr>
        <p:txBody>
          <a:bodyPr>
            <a:normAutofit fontScale="90000"/>
          </a:bodyPr>
          <a:lstStyle/>
          <a:p>
            <a:pPr algn="l"/>
            <a:r>
              <a:rPr lang="en-US">
                <a:latin typeface="Times New Roman"/>
                <a:cs typeface="Times New Roman"/>
              </a:rPr>
              <a:t>1.</a:t>
            </a:r>
            <a:r>
              <a:rPr lang="en-US">
                <a:solidFill>
                  <a:schemeClr val="bg1"/>
                </a:solidFill>
                <a:latin typeface="Times New Roman"/>
                <a:cs typeface="Times New Roman"/>
              </a:rPr>
              <a:t>c</a:t>
            </a:r>
            <a:r>
              <a:rPr lang="en-US">
                <a:latin typeface="Times New Roman"/>
                <a:cs typeface="Times New Roman"/>
              </a:rPr>
              <a:t>Introduction</a:t>
            </a:r>
            <a:endParaRPr lang="en-US">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C85A54B-0C1D-87A4-FFDC-7AC235710630}"/>
              </a:ext>
            </a:extLst>
          </p:cNvPr>
          <p:cNvSpPr>
            <a:spLocks noGrp="1"/>
          </p:cNvSpPr>
          <p:nvPr>
            <p:ph type="subTitle" idx="1"/>
          </p:nvPr>
        </p:nvSpPr>
        <p:spPr>
          <a:xfrm>
            <a:off x="1404730" y="2117035"/>
            <a:ext cx="9144000" cy="3578087"/>
          </a:xfrm>
        </p:spPr>
        <p:txBody>
          <a:bodyPr vert="horz" lIns="91440" tIns="45720" rIns="91440" bIns="45720" rtlCol="0" anchor="t">
            <a:normAutofit/>
          </a:bodyPr>
          <a:lstStyle/>
          <a:p>
            <a:pPr algn="just">
              <a:lnSpc>
                <a:spcPct val="150000"/>
              </a:lnSpc>
            </a:pPr>
            <a:r>
              <a:rPr lang="en-US">
                <a:latin typeface="Times New Roman"/>
                <a:ea typeface="+mn-lt"/>
                <a:cs typeface="Times New Roman"/>
              </a:rPr>
              <a:t>The proposed Document Management System (DMS) will organize and manage all documents at a big oganization, enabling easy storage, quick retrieval, and secure access. It will reduce manual work, improve efficiency, and support timely decision-making across departments.</a:t>
            </a:r>
          </a:p>
        </p:txBody>
      </p:sp>
    </p:spTree>
    <p:extLst>
      <p:ext uri="{BB962C8B-B14F-4D97-AF65-F5344CB8AC3E}">
        <p14:creationId xmlns:p14="http://schemas.microsoft.com/office/powerpoint/2010/main" val="82696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3151D-A179-8EB6-595D-00BC6D648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FD75D-E106-635E-4E7B-AA0074E59FA2}"/>
              </a:ext>
            </a:extLst>
          </p:cNvPr>
          <p:cNvSpPr>
            <a:spLocks noGrp="1"/>
          </p:cNvSpPr>
          <p:nvPr>
            <p:ph type="ctrTitle"/>
          </p:nvPr>
        </p:nvSpPr>
        <p:spPr>
          <a:xfrm>
            <a:off x="1404730" y="745055"/>
            <a:ext cx="9144000" cy="835646"/>
          </a:xfrm>
        </p:spPr>
        <p:txBody>
          <a:bodyPr>
            <a:normAutofit fontScale="90000"/>
          </a:bodyPr>
          <a:lstStyle/>
          <a:p>
            <a:pPr algn="l"/>
            <a:r>
              <a:rPr lang="en-US">
                <a:latin typeface="Times New Roman"/>
                <a:cs typeface="Times New Roman"/>
              </a:rPr>
              <a:t>2. Motivation</a:t>
            </a:r>
            <a:endParaRPr lang="en-IN">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8E4520E-0956-937B-E4E2-9709573B7A86}"/>
              </a:ext>
            </a:extLst>
          </p:cNvPr>
          <p:cNvSpPr>
            <a:spLocks noGrp="1"/>
          </p:cNvSpPr>
          <p:nvPr>
            <p:ph type="subTitle" idx="1"/>
          </p:nvPr>
        </p:nvSpPr>
        <p:spPr>
          <a:xfrm>
            <a:off x="1404730" y="1915752"/>
            <a:ext cx="9144000" cy="3578087"/>
          </a:xfrm>
        </p:spPr>
        <p:txBody>
          <a:bodyPr vert="horz" lIns="91440" tIns="45720" rIns="91440" bIns="45720" rtlCol="0" anchor="t">
            <a:normAutofit/>
          </a:bodyPr>
          <a:lstStyle/>
          <a:p>
            <a:pPr algn="just">
              <a:lnSpc>
                <a:spcPct val="150000"/>
              </a:lnSpc>
            </a:pPr>
            <a:r>
              <a:rPr lang="en-US">
                <a:latin typeface="Times New Roman"/>
                <a:cs typeface="Times New Roman"/>
              </a:rPr>
              <a:t>We are motivated to build this solution because:</a:t>
            </a:r>
            <a:endParaRPr lang="en-IN">
              <a:latin typeface="Times New Roman"/>
              <a:cs typeface="Times New Roman"/>
            </a:endParaRPr>
          </a:p>
          <a:p>
            <a:pPr algn="just">
              <a:lnSpc>
                <a:spcPct val="150000"/>
              </a:lnSpc>
            </a:pPr>
            <a:r>
              <a:rPr lang="en-US">
                <a:latin typeface="Times New Roman"/>
                <a:cs typeface="Times New Roman"/>
              </a:rPr>
              <a:t>1. Increase in the document overload is slowing decisions, creating compliance risks, and causing loss of valuable knowledge. </a:t>
            </a:r>
            <a:endParaRPr lang="en-IN">
              <a:latin typeface="Times New Roman"/>
              <a:cs typeface="Times New Roman"/>
            </a:endParaRPr>
          </a:p>
          <a:p>
            <a:pPr algn="just">
              <a:lnSpc>
                <a:spcPct val="150000"/>
              </a:lnSpc>
            </a:pPr>
            <a:r>
              <a:rPr lang="en-US">
                <a:latin typeface="Times New Roman"/>
                <a:cs typeface="Times New Roman"/>
              </a:rPr>
              <a:t>2. A smart, centralized system will save time, reduce risks, and ensure smooth and efficient metro operations.</a:t>
            </a:r>
            <a:endParaRPr lang="en-IN">
              <a:latin typeface="Times New Roman"/>
              <a:cs typeface="Times New Roman"/>
            </a:endParaRPr>
          </a:p>
        </p:txBody>
      </p:sp>
    </p:spTree>
    <p:extLst>
      <p:ext uri="{BB962C8B-B14F-4D97-AF65-F5344CB8AC3E}">
        <p14:creationId xmlns:p14="http://schemas.microsoft.com/office/powerpoint/2010/main" val="702885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FC07-4834-F006-67DD-C6433418F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76F8C-7614-BEF0-B30A-7D54E26FD301}"/>
              </a:ext>
            </a:extLst>
          </p:cNvPr>
          <p:cNvSpPr>
            <a:spLocks noGrp="1"/>
          </p:cNvSpPr>
          <p:nvPr>
            <p:ph type="ctrTitle"/>
          </p:nvPr>
        </p:nvSpPr>
        <p:spPr>
          <a:xfrm>
            <a:off x="1404730" y="565772"/>
            <a:ext cx="9144000" cy="835646"/>
          </a:xfrm>
        </p:spPr>
        <p:txBody>
          <a:bodyPr>
            <a:normAutofit/>
          </a:bodyPr>
          <a:lstStyle/>
          <a:p>
            <a:pPr algn="l"/>
            <a:r>
              <a:rPr lang="en-US" sz="5400">
                <a:latin typeface="Times New Roman"/>
                <a:cs typeface="Times New Roman"/>
              </a:rPr>
              <a:t>3. Literature Review</a:t>
            </a:r>
            <a:endParaRPr lang="en-IN" sz="5400">
              <a:latin typeface="Times New Roman"/>
              <a:cs typeface="Times New Roman"/>
            </a:endParaRPr>
          </a:p>
        </p:txBody>
      </p:sp>
      <p:sp>
        <p:nvSpPr>
          <p:cNvPr id="3" name="Subtitle 2">
            <a:extLst>
              <a:ext uri="{FF2B5EF4-FFF2-40B4-BE49-F238E27FC236}">
                <a16:creationId xmlns:a16="http://schemas.microsoft.com/office/drawing/2014/main" id="{B6F15A1B-958F-3B84-7D85-3E81767054F1}"/>
              </a:ext>
            </a:extLst>
          </p:cNvPr>
          <p:cNvSpPr>
            <a:spLocks noGrp="1"/>
          </p:cNvSpPr>
          <p:nvPr>
            <p:ph type="subTitle" idx="1"/>
          </p:nvPr>
        </p:nvSpPr>
        <p:spPr>
          <a:xfrm>
            <a:off x="1524000" y="1711028"/>
            <a:ext cx="9028254" cy="4590607"/>
          </a:xfrm>
        </p:spPr>
        <p:txBody>
          <a:bodyPr vert="horz" lIns="91440" tIns="45720" rIns="91440" bIns="45720" rtlCol="0" anchor="t">
            <a:normAutofit/>
          </a:bodyPr>
          <a:lstStyle/>
          <a:p>
            <a:pPr marL="457200" indent="-457200" algn="just">
              <a:lnSpc>
                <a:spcPct val="100000"/>
              </a:lnSpc>
              <a:buChar char="•"/>
            </a:pPr>
            <a:r>
              <a:rPr lang="en-IN" b="1" dirty="0">
                <a:latin typeface="Times New Roman"/>
                <a:ea typeface="+mn-lt"/>
                <a:cs typeface="Times New Roman"/>
              </a:rPr>
              <a:t>Madhavi et al. (2025):</a:t>
            </a:r>
            <a:r>
              <a:rPr lang="en-IN" dirty="0">
                <a:latin typeface="Times New Roman"/>
                <a:ea typeface="+mn-lt"/>
                <a:cs typeface="Times New Roman"/>
              </a:rPr>
              <a:t> This paper proposed the development of an OCR-driven pipeline integrating text extraction, abstractive summarization, translation, and classification for low-resource Indian languages. The system achieved strong results across OCR, summarization, and multilingual translation tasks.</a:t>
            </a:r>
          </a:p>
          <a:p>
            <a:pPr marL="457200" indent="-457200" algn="just">
              <a:lnSpc>
                <a:spcPct val="100000"/>
              </a:lnSpc>
              <a:buFont typeface="Arial" panose="020B0604020202020204" pitchFamily="34" charset="0"/>
              <a:buChar char="•"/>
            </a:pPr>
            <a:r>
              <a:rPr lang="en-US" b="1" dirty="0">
                <a:latin typeface="Times New Roman"/>
                <a:ea typeface="Calibri"/>
                <a:cs typeface="Times New Roman"/>
              </a:rPr>
              <a:t>Godbole et al. (2024):</a:t>
            </a:r>
            <a:r>
              <a:rPr lang="en-US" b="1" dirty="0">
                <a:latin typeface="Times New Roman"/>
                <a:ea typeface="+mn-lt"/>
                <a:cs typeface="Times New Roman"/>
              </a:rPr>
              <a:t> </a:t>
            </a:r>
            <a:r>
              <a:rPr lang="en-US" dirty="0">
                <a:latin typeface="Times New Roman"/>
                <a:ea typeface="+mn-lt"/>
                <a:cs typeface="+mn-lt"/>
              </a:rPr>
              <a:t>This paper drives contrasts between LLM based and the traditional ways of summarizing documents. It proposes a workflow from model selection to optimization; and uses case studies in legal, medical, and business domains to show how these models significantly improve efficiency and accuracy over traditional methods.    </a:t>
            </a:r>
          </a:p>
          <a:p>
            <a:pPr marL="457200" indent="-457200" algn="just">
              <a:lnSpc>
                <a:spcPct val="100000"/>
              </a:lnSpc>
              <a:buChar char="•"/>
            </a:pPr>
            <a:endParaRPr lang="en-US" dirty="0">
              <a:ea typeface="Calibri" panose="020F0502020204030204"/>
              <a:cs typeface="Calibri" panose="020F0502020204030204"/>
            </a:endParaRPr>
          </a:p>
          <a:p>
            <a:pPr marL="457200" indent="-457200" algn="just">
              <a:buChar char="•"/>
            </a:pPr>
            <a:endParaRPr lang="en-IN" dirty="0">
              <a:latin typeface="Times New Roman"/>
              <a:ea typeface="Calibri"/>
              <a:cs typeface="Times New Roman"/>
            </a:endParaRPr>
          </a:p>
          <a:p>
            <a:pPr marL="457200" indent="-457200" algn="just">
              <a:buChar char="•"/>
            </a:pPr>
            <a:endParaRPr lang="en-IN" dirty="0">
              <a:latin typeface="Times New Roman"/>
              <a:ea typeface="Calibri"/>
              <a:cs typeface="Times New Roman"/>
            </a:endParaRPr>
          </a:p>
        </p:txBody>
      </p:sp>
    </p:spTree>
    <p:extLst>
      <p:ext uri="{BB962C8B-B14F-4D97-AF65-F5344CB8AC3E}">
        <p14:creationId xmlns:p14="http://schemas.microsoft.com/office/powerpoint/2010/main" val="1609018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300E65-0771-2328-DB78-378FCFCB8B2C}"/>
              </a:ext>
            </a:extLst>
          </p:cNvPr>
          <p:cNvSpPr>
            <a:spLocks noGrp="1"/>
          </p:cNvSpPr>
          <p:nvPr>
            <p:ph idx="1"/>
          </p:nvPr>
        </p:nvSpPr>
        <p:spPr>
          <a:xfrm>
            <a:off x="994775" y="1199278"/>
            <a:ext cx="9392222" cy="4810625"/>
          </a:xfrm>
        </p:spPr>
        <p:txBody>
          <a:bodyPr vert="horz" lIns="91440" tIns="45720" rIns="91440" bIns="45720" rtlCol="0" anchor="t">
            <a:normAutofit/>
          </a:bodyPr>
          <a:lstStyle/>
          <a:p>
            <a:pPr marL="457200" indent="-457200" algn="just">
              <a:lnSpc>
                <a:spcPct val="100000"/>
              </a:lnSpc>
            </a:pPr>
            <a:r>
              <a:rPr lang="en-US" sz="2400" b="1" dirty="0">
                <a:solidFill>
                  <a:srgbClr val="000000"/>
                </a:solidFill>
                <a:latin typeface="Times New Roman"/>
                <a:ea typeface="Calibri"/>
                <a:cs typeface="Times New Roman"/>
              </a:rPr>
              <a:t>Majid et al.(2019): </a:t>
            </a:r>
            <a:r>
              <a:rPr lang="en-US" sz="2400" dirty="0">
                <a:solidFill>
                  <a:srgbClr val="000000"/>
                </a:solidFill>
                <a:latin typeface="Times New Roman"/>
                <a:ea typeface="Calibri"/>
                <a:cs typeface="Times New Roman"/>
              </a:rPr>
              <a:t>This paper proposes a strategic model for the railway industry, arguing that traditional, internal-only Knowledge Management is insufficient for innovation. It suggests integrating "Open Innovation" by using online communities as a bridge to connect with external knowledge bases</a:t>
            </a:r>
            <a:endParaRPr lang="en-US" sz="2400" b="1" dirty="0">
              <a:latin typeface="Times New Roman"/>
              <a:ea typeface="Calibri" panose="020F0502020204030204"/>
              <a:cs typeface="Calibri" panose="020F0502020204030204"/>
            </a:endParaRPr>
          </a:p>
          <a:p>
            <a:pPr marL="457200" indent="-457200" algn="just">
              <a:lnSpc>
                <a:spcPct val="100000"/>
              </a:lnSpc>
            </a:pPr>
            <a:r>
              <a:rPr lang="en-US" sz="2400" b="1" dirty="0">
                <a:latin typeface="Times New Roman"/>
                <a:ea typeface="Calibri" panose="020F0502020204030204"/>
                <a:cs typeface="Calibri" panose="020F0502020204030204"/>
              </a:rPr>
              <a:t>Sunitha et al. (2019):</a:t>
            </a:r>
            <a:r>
              <a:rPr lang="en-US" sz="2400" dirty="0">
                <a:latin typeface="Times New Roman"/>
                <a:ea typeface="Calibri" panose="020F0502020204030204"/>
                <a:cs typeface="Calibri" panose="020F0502020204030204"/>
              </a:rPr>
              <a:t> The authors proposed an abstractive summarization system for Malayalam using clause identification and semantic triples (subject–object–predicate). The work addressed challenges of agglutinative morphology and showed promising results compared to extractive methods</a:t>
            </a:r>
            <a:endParaRPr lang="en-US" dirty="0">
              <a:ea typeface="Calibri" panose="020F0502020204030204"/>
              <a:cs typeface="Calibri" panose="020F0502020204030204"/>
            </a:endParaRPr>
          </a:p>
          <a:p>
            <a:pPr marL="457200" indent="-457200" algn="just">
              <a:lnSpc>
                <a:spcPct val="100000"/>
              </a:lnSpc>
            </a:pPr>
            <a:endParaRPr lang="en-US" sz="2400" dirty="0">
              <a:latin typeface="Times New Roman"/>
              <a:ea typeface="Calibri" panose="020F0502020204030204"/>
              <a:cs typeface="Calibri" panose="020F0502020204030204"/>
            </a:endParaRPr>
          </a:p>
        </p:txBody>
      </p:sp>
    </p:spTree>
    <p:extLst>
      <p:ext uri="{BB962C8B-B14F-4D97-AF65-F5344CB8AC3E}">
        <p14:creationId xmlns:p14="http://schemas.microsoft.com/office/powerpoint/2010/main" val="1946209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CDDB62-FAD4-9CBA-C37E-E311E05B1658}"/>
              </a:ext>
            </a:extLst>
          </p:cNvPr>
          <p:cNvSpPr>
            <a:spLocks noGrp="1"/>
          </p:cNvSpPr>
          <p:nvPr>
            <p:ph idx="1"/>
          </p:nvPr>
        </p:nvSpPr>
        <p:spPr>
          <a:xfrm>
            <a:off x="1395899" y="1321286"/>
            <a:ext cx="9210898" cy="4368439"/>
          </a:xfrm>
        </p:spPr>
        <p:txBody>
          <a:bodyPr vert="horz" lIns="91440" tIns="45720" rIns="91440" bIns="45720" rtlCol="0" anchor="t">
            <a:noAutofit/>
          </a:bodyPr>
          <a:lstStyle/>
          <a:p>
            <a:pPr algn="just"/>
            <a:r>
              <a:rPr lang="en-US" sz="2400" b="1" dirty="0">
                <a:latin typeface="Times New Roman"/>
                <a:ea typeface="+mn-lt"/>
                <a:cs typeface="Times New Roman"/>
              </a:rPr>
              <a:t>Liu &amp; Chen (2017): </a:t>
            </a:r>
            <a:r>
              <a:rPr lang="en-US" sz="2400" dirty="0">
                <a:latin typeface="Times New Roman"/>
                <a:ea typeface="+mn-lt"/>
                <a:cs typeface="Times New Roman"/>
              </a:rPr>
              <a:t>The authors in this paper developed the DAM_AM model for big data, which normalizes multi-source data and applies object/association mapping and a "walk" mechanism. The model enables efficient, scalable, and intuitive multidimensional data analysis and visualization</a:t>
            </a:r>
          </a:p>
          <a:p>
            <a:pPr marL="0" indent="0" algn="just">
              <a:buNone/>
            </a:pPr>
            <a:endParaRPr lang="en-US" sz="2200" dirty="0">
              <a:solidFill>
                <a:srgbClr val="000000"/>
              </a:solidFill>
              <a:latin typeface="Times New Roman"/>
              <a:ea typeface="Calibri"/>
              <a:cs typeface="Calibri" panose="020F0502020204030204"/>
            </a:endParaRPr>
          </a:p>
          <a:p>
            <a:pPr marL="457200" indent="-457200" algn="just"/>
            <a:r>
              <a:rPr lang="en-IN" sz="2400" b="1" dirty="0">
                <a:latin typeface="Times New Roman"/>
                <a:ea typeface="+mn-lt"/>
                <a:cs typeface="Times New Roman"/>
              </a:rPr>
              <a:t>Ho &amp; Kim (2014):</a:t>
            </a:r>
            <a:r>
              <a:rPr lang="en-IN" sz="2400" dirty="0">
                <a:latin typeface="Times New Roman"/>
                <a:ea typeface="+mn-lt"/>
                <a:cs typeface="Times New Roman"/>
              </a:rPr>
              <a:t> This paper proposed a fingerprinting-based method using sim-hash and </a:t>
            </a:r>
            <a:r>
              <a:rPr lang="en-IN" sz="2400" dirty="0" err="1">
                <a:latin typeface="Times New Roman"/>
                <a:ea typeface="+mn-lt"/>
                <a:cs typeface="Times New Roman"/>
              </a:rPr>
              <a:t>trie</a:t>
            </a:r>
            <a:r>
              <a:rPr lang="en-IN" sz="2400" dirty="0">
                <a:latin typeface="Times New Roman"/>
                <a:ea typeface="+mn-lt"/>
                <a:cs typeface="Times New Roman"/>
              </a:rPr>
              <a:t>-tree structures to detect near-duplicate documents and spam in social networks. Their approach achieved ~98% accuracy, effectively addressing redundancy and malicious data detection in online platforms</a:t>
            </a:r>
            <a:endParaRPr lang="en-US" sz="2200" dirty="0">
              <a:latin typeface="Times New Roman"/>
              <a:ea typeface="Calibri"/>
              <a:cs typeface="Calibri"/>
            </a:endParaRPr>
          </a:p>
          <a:p>
            <a:pPr marL="457200" indent="-457200" algn="just"/>
            <a:endParaRPr lang="en-US" sz="2200" dirty="0">
              <a:solidFill>
                <a:srgbClr val="000000"/>
              </a:solidFill>
              <a:latin typeface="Times New Roman"/>
              <a:ea typeface="Calibri"/>
              <a:cs typeface="Calibri"/>
            </a:endParaRPr>
          </a:p>
        </p:txBody>
      </p:sp>
    </p:spTree>
    <p:extLst>
      <p:ext uri="{BB962C8B-B14F-4D97-AF65-F5344CB8AC3E}">
        <p14:creationId xmlns:p14="http://schemas.microsoft.com/office/powerpoint/2010/main" val="1778088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352005-01BD-79DE-A9AD-0309E161ED4A}"/>
              </a:ext>
            </a:extLst>
          </p:cNvPr>
          <p:cNvSpPr>
            <a:spLocks noGrp="1"/>
          </p:cNvSpPr>
          <p:nvPr>
            <p:ph idx="1"/>
          </p:nvPr>
        </p:nvSpPr>
        <p:spPr>
          <a:xfrm>
            <a:off x="1245296" y="1094940"/>
            <a:ext cx="9320211" cy="4664489"/>
          </a:xfrm>
        </p:spPr>
        <p:txBody>
          <a:bodyPr vert="horz" lIns="91440" tIns="45720" rIns="91440" bIns="45720" rtlCol="0" anchor="t">
            <a:normAutofit/>
          </a:bodyPr>
          <a:lstStyle/>
          <a:p>
            <a:pPr marL="457200" indent="-457200" algn="just">
              <a:lnSpc>
                <a:spcPct val="100000"/>
              </a:lnSpc>
            </a:pPr>
            <a:endParaRPr lang="en-US" sz="2400" dirty="0">
              <a:latin typeface="Times New Roman"/>
              <a:ea typeface="Calibri" panose="020F0502020204030204"/>
              <a:cs typeface="Calibri" panose="020F0502020204030204"/>
            </a:endParaRPr>
          </a:p>
          <a:p>
            <a:pPr marL="457200" indent="-457200" algn="just">
              <a:lnSpc>
                <a:spcPct val="100000"/>
              </a:lnSpc>
            </a:pPr>
            <a:r>
              <a:rPr lang="en-US" sz="2400" b="1" dirty="0">
                <a:latin typeface="Times New Roman"/>
                <a:ea typeface="Calibri" panose="020F0502020204030204"/>
                <a:cs typeface="Calibri" panose="020F0502020204030204"/>
              </a:rPr>
              <a:t>Fan &amp; Huang (2012):</a:t>
            </a:r>
            <a:r>
              <a:rPr lang="en-US" sz="2400" dirty="0">
                <a:latin typeface="Times New Roman"/>
                <a:ea typeface="Calibri" panose="020F0502020204030204"/>
                <a:cs typeface="Calibri" panose="020F0502020204030204"/>
              </a:rPr>
              <a:t> This paper introduced a fusion of shingling, I-Match, and </a:t>
            </a:r>
            <a:r>
              <a:rPr lang="en-US" sz="2400" dirty="0" err="1">
                <a:latin typeface="Times New Roman"/>
                <a:ea typeface="Calibri" panose="020F0502020204030204"/>
                <a:cs typeface="Calibri" panose="020F0502020204030204"/>
              </a:rPr>
              <a:t>Simhash</a:t>
            </a:r>
            <a:r>
              <a:rPr lang="en-US" sz="2400" dirty="0">
                <a:latin typeface="Times New Roman"/>
                <a:ea typeface="Calibri" panose="020F0502020204030204"/>
                <a:cs typeface="Calibri" panose="020F0502020204030204"/>
              </a:rPr>
              <a:t> algorithms for near-duplicate document detection. Their multi-fingerprint </a:t>
            </a:r>
            <a:r>
              <a:rPr lang="en-US" sz="2400" dirty="0" err="1">
                <a:latin typeface="Times New Roman"/>
                <a:ea typeface="Calibri" panose="020F0502020204030204"/>
                <a:cs typeface="Calibri" panose="020F0502020204030204"/>
              </a:rPr>
              <a:t>Simhash</a:t>
            </a:r>
            <a:r>
              <a:rPr lang="en-US" sz="2400" dirty="0">
                <a:latin typeface="Times New Roman"/>
                <a:ea typeface="Calibri" panose="020F0502020204030204"/>
                <a:cs typeface="Calibri" panose="020F0502020204030204"/>
              </a:rPr>
              <a:t> method improved precision–recall balance and enhanced digital library search efficiency</a:t>
            </a:r>
            <a:endParaRPr lang="en-US" sz="2400" dirty="0">
              <a:latin typeface="Times New Roman"/>
              <a:ea typeface="+mn-lt"/>
              <a:cs typeface="Times New Roman"/>
            </a:endParaRPr>
          </a:p>
          <a:p>
            <a:pPr marL="457200" indent="-457200" algn="just">
              <a:lnSpc>
                <a:spcPct val="100000"/>
              </a:lnSpc>
            </a:pPr>
            <a:r>
              <a:rPr lang="en-US" sz="2400" b="1" dirty="0" err="1">
                <a:latin typeface="Times New Roman"/>
                <a:ea typeface="+mn-lt"/>
                <a:cs typeface="Times New Roman"/>
              </a:rPr>
              <a:t>Fesehaye</a:t>
            </a:r>
            <a:r>
              <a:rPr lang="en-US" sz="2400" b="1" dirty="0">
                <a:latin typeface="Times New Roman"/>
                <a:ea typeface="+mn-lt"/>
                <a:cs typeface="Times New Roman"/>
              </a:rPr>
              <a:t>, Malik, &amp; Nahrstedt (2010):</a:t>
            </a:r>
            <a:r>
              <a:rPr lang="en-US" sz="2400" dirty="0">
                <a:latin typeface="Times New Roman"/>
                <a:ea typeface="+mn-lt"/>
                <a:cs typeface="Times New Roman"/>
              </a:rPr>
              <a:t> </a:t>
            </a:r>
            <a:r>
              <a:rPr lang="en-US" sz="2400" dirty="0" err="1">
                <a:latin typeface="Times New Roman"/>
                <a:ea typeface="+mn-lt"/>
                <a:cs typeface="Times New Roman"/>
              </a:rPr>
              <a:t>Thi</a:t>
            </a:r>
            <a:r>
              <a:rPr lang="en-US" sz="2400" dirty="0">
                <a:latin typeface="Times New Roman"/>
                <a:ea typeface="+mn-lt"/>
                <a:cs typeface="Times New Roman"/>
              </a:rPr>
              <a:t> paper proposed a scalable distributed file system for cloud computing that improves upon HDFS by using multiple name nodes and a lightweight front-end server. Their protocol enhances bandwidth utilization, reduces transfer latency, and removes single points of failure</a:t>
            </a:r>
          </a:p>
          <a:p>
            <a:pPr marL="514350" indent="-514350" algn="just">
              <a:lnSpc>
                <a:spcPct val="100000"/>
              </a:lnSpc>
            </a:pPr>
            <a:endParaRPr lang="en-US" dirty="0">
              <a:ea typeface="Calibri"/>
              <a:cs typeface="Calibri"/>
            </a:endParaRPr>
          </a:p>
          <a:p>
            <a:pPr marL="514350" indent="-514350" algn="just">
              <a:lnSpc>
                <a:spcPct val="100000"/>
              </a:lnSpc>
            </a:pPr>
            <a:endParaRPr lang="en-US" dirty="0">
              <a:ea typeface="Calibri"/>
              <a:cs typeface="Calibri"/>
            </a:endParaRPr>
          </a:p>
        </p:txBody>
      </p:sp>
    </p:spTree>
    <p:extLst>
      <p:ext uri="{BB962C8B-B14F-4D97-AF65-F5344CB8AC3E}">
        <p14:creationId xmlns:p14="http://schemas.microsoft.com/office/powerpoint/2010/main" val="3064873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C909E8A-AFBB-9E26-4DA3-0140E32A2862}"/>
              </a:ext>
            </a:extLst>
          </p:cNvPr>
          <p:cNvGraphicFramePr>
            <a:graphicFrameLocks noGrp="1"/>
          </p:cNvGraphicFramePr>
          <p:nvPr>
            <p:extLst>
              <p:ext uri="{D42A27DB-BD31-4B8C-83A1-F6EECF244321}">
                <p14:modId xmlns:p14="http://schemas.microsoft.com/office/powerpoint/2010/main" val="798455703"/>
              </p:ext>
            </p:extLst>
          </p:nvPr>
        </p:nvGraphicFramePr>
        <p:xfrm>
          <a:off x="198328" y="104383"/>
          <a:ext cx="11729356" cy="6197228"/>
        </p:xfrm>
        <a:graphic>
          <a:graphicData uri="http://schemas.openxmlformats.org/drawingml/2006/table">
            <a:tbl>
              <a:tblPr bandRow="1">
                <a:tableStyleId>{5C22544A-7EE6-4342-B048-85BDC9FD1C3A}</a:tableStyleId>
              </a:tblPr>
              <a:tblGrid>
                <a:gridCol w="2932339">
                  <a:extLst>
                    <a:ext uri="{9D8B030D-6E8A-4147-A177-3AD203B41FA5}">
                      <a16:colId xmlns:a16="http://schemas.microsoft.com/office/drawing/2014/main" val="868273342"/>
                    </a:ext>
                  </a:extLst>
                </a:gridCol>
                <a:gridCol w="2932339">
                  <a:extLst>
                    <a:ext uri="{9D8B030D-6E8A-4147-A177-3AD203B41FA5}">
                      <a16:colId xmlns:a16="http://schemas.microsoft.com/office/drawing/2014/main" val="2695632691"/>
                    </a:ext>
                  </a:extLst>
                </a:gridCol>
                <a:gridCol w="2932339">
                  <a:extLst>
                    <a:ext uri="{9D8B030D-6E8A-4147-A177-3AD203B41FA5}">
                      <a16:colId xmlns:a16="http://schemas.microsoft.com/office/drawing/2014/main" val="323475658"/>
                    </a:ext>
                  </a:extLst>
                </a:gridCol>
                <a:gridCol w="2932339">
                  <a:extLst>
                    <a:ext uri="{9D8B030D-6E8A-4147-A177-3AD203B41FA5}">
                      <a16:colId xmlns:a16="http://schemas.microsoft.com/office/drawing/2014/main" val="2686696676"/>
                    </a:ext>
                  </a:extLst>
                </a:gridCol>
              </a:tblGrid>
              <a:tr h="413148">
                <a:tc>
                  <a:txBody>
                    <a:bodyPr/>
                    <a:lstStyle/>
                    <a:p>
                      <a:pPr>
                        <a:buNone/>
                      </a:pPr>
                      <a:r>
                        <a:rPr lang="en-US" b="1" dirty="0">
                          <a:latin typeface="Times New Roman" panose="02020603050405020304" pitchFamily="18" charset="0"/>
                          <a:cs typeface="Times New Roman" panose="02020603050405020304" pitchFamily="18" charset="0"/>
                        </a:rPr>
                        <a:t>Author(s)</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latin typeface="Times New Roman" panose="02020603050405020304" pitchFamily="18" charset="0"/>
                          <a:cs typeface="Times New Roman" panose="02020603050405020304" pitchFamily="18" charset="0"/>
                        </a:rPr>
                        <a:t>Summary</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latin typeface="Times New Roman" panose="02020603050405020304" pitchFamily="18" charset="0"/>
                          <a:cs typeface="Times New Roman" panose="02020603050405020304" pitchFamily="18" charset="0"/>
                        </a:rPr>
                        <a:t>Advantage</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latin typeface="Times New Roman" panose="02020603050405020304" pitchFamily="18" charset="0"/>
                          <a:cs typeface="Times New Roman" panose="02020603050405020304" pitchFamily="18" charset="0"/>
                        </a:rPr>
                        <a:t>Disadvantage</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4230616"/>
                  </a:ext>
                </a:extLst>
              </a:tr>
              <a:tr h="723010">
                <a:tc>
                  <a:txBody>
                    <a:bodyPr/>
                    <a:lstStyle/>
                    <a:p>
                      <a:pPr>
                        <a:buNone/>
                      </a:pPr>
                      <a:r>
                        <a:rPr lang="en-US" b="1">
                          <a:latin typeface="Times New Roman" panose="02020603050405020304" pitchFamily="18" charset="0"/>
                          <a:cs typeface="Times New Roman" panose="02020603050405020304" pitchFamily="18" charset="0"/>
                        </a:rPr>
                        <a:t>Madhavi et al. (2025)</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OCR + summarization + translation pipeline.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Supports low-resource languages.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High computation, less generalizable.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430709"/>
                  </a:ext>
                </a:extLst>
              </a:tr>
              <a:tr h="723010">
                <a:tc>
                  <a:txBody>
                    <a:bodyPr/>
                    <a:lstStyle/>
                    <a:p>
                      <a:pPr>
                        <a:buNone/>
                      </a:pPr>
                      <a:r>
                        <a:rPr lang="en-US" b="1" dirty="0">
                          <a:latin typeface="Times New Roman" panose="02020603050405020304" pitchFamily="18" charset="0"/>
                          <a:cs typeface="Times New Roman" panose="02020603050405020304" pitchFamily="18" charset="0"/>
                        </a:rPr>
                        <a:t>Ho &amp; Kim (2014)</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Simhash + trie-tree for near-duplicates.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~98% accurate, good spam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Storage + scaling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0079168"/>
                  </a:ext>
                </a:extLst>
              </a:tr>
              <a:tr h="723010">
                <a:tc>
                  <a:txBody>
                    <a:bodyPr/>
                    <a:lstStyle/>
                    <a:p>
                      <a:pPr>
                        <a:buNone/>
                      </a:pPr>
                      <a:r>
                        <a:rPr lang="en-US" b="1">
                          <a:latin typeface="Times New Roman" panose="02020603050405020304" pitchFamily="18" charset="0"/>
                          <a:cs typeface="Times New Roman" panose="02020603050405020304" pitchFamily="18" charset="0"/>
                        </a:rPr>
                        <a:t>Liu &amp; Chen (2017)</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DAM_AM model for big data mapping.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Scalable, efficient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Complex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0108323"/>
                  </a:ext>
                </a:extLst>
              </a:tr>
              <a:tr h="723010">
                <a:tc>
                  <a:txBody>
                    <a:bodyPr/>
                    <a:lstStyle/>
                    <a:p>
                      <a:pPr>
                        <a:buNone/>
                      </a:pPr>
                      <a:r>
                        <a:rPr lang="en-US" b="1">
                          <a:latin typeface="Times New Roman" panose="02020603050405020304" pitchFamily="18" charset="0"/>
                          <a:cs typeface="Times New Roman" panose="02020603050405020304" pitchFamily="18" charset="0"/>
                        </a:rPr>
                        <a:t>Fesehaye et al. (2010)</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Improved HDFS with multi-namenodes.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Better bandwidth, no single failure.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Sync overhead.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9636984"/>
                  </a:ext>
                </a:extLst>
              </a:tr>
              <a:tr h="723010">
                <a:tc>
                  <a:txBody>
                    <a:bodyPr/>
                    <a:lstStyle/>
                    <a:p>
                      <a:pPr>
                        <a:buNone/>
                      </a:pPr>
                      <a:r>
                        <a:rPr lang="en-US" b="1">
                          <a:latin typeface="Times New Roman" panose="02020603050405020304" pitchFamily="18" charset="0"/>
                          <a:cs typeface="Times New Roman" panose="02020603050405020304" pitchFamily="18" charset="0"/>
                        </a:rPr>
                        <a:t>Sunitha et al. (2019)</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Abstractive Malayalam summarizer.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Handles morphology well.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Language-specific.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1669840"/>
                  </a:ext>
                </a:extLst>
              </a:tr>
              <a:tr h="723010">
                <a:tc>
                  <a:txBody>
                    <a:bodyPr/>
                    <a:lstStyle/>
                    <a:p>
                      <a:pPr>
                        <a:buNone/>
                      </a:pPr>
                      <a:r>
                        <a:rPr lang="en-US" b="1">
                          <a:latin typeface="Times New Roman" panose="02020603050405020304" pitchFamily="18" charset="0"/>
                          <a:cs typeface="Times New Roman" panose="02020603050405020304" pitchFamily="18" charset="0"/>
                        </a:rPr>
                        <a:t>Fan &amp; Huang (2012)</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Hybrid Simhash for duplicates.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Balanced precision–recall.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More computation.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6371095"/>
                  </a:ext>
                </a:extLst>
              </a:tr>
              <a:tr h="723010">
                <a:tc>
                  <a:txBody>
                    <a:bodyPr/>
                    <a:lstStyle/>
                    <a:p>
                      <a:pPr>
                        <a:buNone/>
                      </a:pPr>
                      <a:r>
                        <a:rPr lang="en-US" b="1">
                          <a:latin typeface="Times New Roman" panose="02020603050405020304" pitchFamily="18" charset="0"/>
                          <a:cs typeface="Times New Roman" panose="02020603050405020304" pitchFamily="18" charset="0"/>
                        </a:rPr>
                        <a:t>Godbole et al. (2024)</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LLM vs. traditional summarization.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More accurate, 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Costly, risk of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400332"/>
                  </a:ext>
                </a:extLst>
              </a:tr>
              <a:tr h="723010">
                <a:tc>
                  <a:txBody>
                    <a:bodyPr/>
                    <a:lstStyle/>
                    <a:p>
                      <a:pPr>
                        <a:buNone/>
                      </a:pPr>
                      <a:r>
                        <a:rPr lang="en-US" b="1">
                          <a:latin typeface="Times New Roman" panose="02020603050405020304" pitchFamily="18" charset="0"/>
                          <a:cs typeface="Times New Roman" panose="02020603050405020304" pitchFamily="18" charset="0"/>
                        </a:rPr>
                        <a:t>Majid et al. (2019)</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Open innovation in railway 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Boosts external collaboration.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Security/trust issues.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4954211"/>
                  </a:ext>
                </a:extLst>
              </a:tr>
            </a:tbl>
          </a:graphicData>
        </a:graphic>
      </p:graphicFrame>
    </p:spTree>
    <p:extLst>
      <p:ext uri="{BB962C8B-B14F-4D97-AF65-F5344CB8AC3E}">
        <p14:creationId xmlns:p14="http://schemas.microsoft.com/office/powerpoint/2010/main" val="2916869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E8A97-57C0-0523-779C-C80609EC1385}"/>
              </a:ext>
            </a:extLst>
          </p:cNvPr>
          <p:cNvSpPr>
            <a:spLocks noGrp="1"/>
          </p:cNvSpPr>
          <p:nvPr>
            <p:ph type="title"/>
          </p:nvPr>
        </p:nvSpPr>
        <p:spPr>
          <a:xfrm>
            <a:off x="1434547" y="146464"/>
            <a:ext cx="10515600" cy="1325563"/>
          </a:xfrm>
        </p:spPr>
        <p:txBody>
          <a:bodyPr>
            <a:normAutofit/>
          </a:bodyPr>
          <a:lstStyle/>
          <a:p>
            <a:r>
              <a:rPr lang="en-US" sz="4800">
                <a:latin typeface="Times New Roman"/>
                <a:cs typeface="Times New Roman"/>
              </a:rPr>
              <a:t>4. Problem Statement</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4FA3F1-075F-5313-948A-E1B451A78ACF}"/>
              </a:ext>
            </a:extLst>
          </p:cNvPr>
          <p:cNvSpPr>
            <a:spLocks noGrp="1"/>
          </p:cNvSpPr>
          <p:nvPr>
            <p:ph idx="1"/>
          </p:nvPr>
        </p:nvSpPr>
        <p:spPr>
          <a:xfrm>
            <a:off x="1224576" y="1357008"/>
            <a:ext cx="9922565" cy="4835180"/>
          </a:xfrm>
        </p:spPr>
        <p:txBody>
          <a:bodyPr vert="horz" lIns="91440" tIns="45720" rIns="91440" bIns="45720" rtlCol="0" anchor="t">
            <a:noAutofit/>
          </a:bodyPr>
          <a:lstStyle/>
          <a:p>
            <a:pPr marL="0" indent="0" algn="just">
              <a:lnSpc>
                <a:spcPct val="120000"/>
              </a:lnSpc>
              <a:buNone/>
            </a:pPr>
            <a:r>
              <a:rPr lang="en-US" sz="1800">
                <a:latin typeface="Times New Roman"/>
                <a:cs typeface="Times New Roman"/>
              </a:rPr>
              <a:t>Big organizations face the following problems due to document overload:</a:t>
            </a:r>
          </a:p>
          <a:p>
            <a:pPr marL="514350" indent="-514350" algn="just">
              <a:lnSpc>
                <a:spcPct val="120000"/>
              </a:lnSpc>
              <a:buAutoNum type="arabicPeriod"/>
            </a:pPr>
            <a:r>
              <a:rPr lang="en-US" sz="1800" b="1">
                <a:latin typeface="Times New Roman"/>
                <a:cs typeface="Times New Roman"/>
              </a:rPr>
              <a:t>High document load</a:t>
            </a:r>
            <a:r>
              <a:rPr lang="en-US" sz="1800">
                <a:latin typeface="Times New Roman"/>
                <a:cs typeface="Times New Roman"/>
              </a:rPr>
              <a:t> → Thousands of files daily from email, SharePoint, WhatsApp, Maximo, scans.</a:t>
            </a:r>
            <a:endParaRPr lang="en-US"/>
          </a:p>
          <a:p>
            <a:pPr marL="514350" indent="-514350" algn="just">
              <a:lnSpc>
                <a:spcPct val="120000"/>
              </a:lnSpc>
              <a:buFont typeface="+mj-lt"/>
              <a:buAutoNum type="arabicPeriod"/>
            </a:pPr>
            <a:r>
              <a:rPr lang="en-US" sz="1800" b="1">
                <a:latin typeface="Times New Roman"/>
                <a:cs typeface="Times New Roman"/>
              </a:rPr>
              <a:t>Information latency</a:t>
            </a:r>
            <a:r>
              <a:rPr lang="en-US" sz="1800">
                <a:latin typeface="Times New Roman"/>
                <a:cs typeface="Times New Roman"/>
              </a:rPr>
              <a:t> → Managers waste hours skimming long docs for a few critical lines.</a:t>
            </a:r>
          </a:p>
          <a:p>
            <a:pPr marL="514350" indent="-514350" algn="just">
              <a:lnSpc>
                <a:spcPct val="120000"/>
              </a:lnSpc>
              <a:buFont typeface="+mj-lt"/>
              <a:buAutoNum type="arabicPeriod"/>
            </a:pPr>
            <a:r>
              <a:rPr lang="en-US" sz="1800" b="1">
                <a:latin typeface="Times New Roman"/>
                <a:cs typeface="Times New Roman"/>
              </a:rPr>
              <a:t>Siloed awareness</a:t>
            </a:r>
            <a:r>
              <a:rPr lang="en-US" sz="1800">
                <a:latin typeface="Times New Roman"/>
                <a:cs typeface="Times New Roman"/>
              </a:rPr>
              <a:t> → Departments act without knowing updates from others.</a:t>
            </a:r>
          </a:p>
          <a:p>
            <a:pPr marL="514350" indent="-514350" algn="just">
              <a:lnSpc>
                <a:spcPct val="120000"/>
              </a:lnSpc>
              <a:buFont typeface="+mj-lt"/>
              <a:buAutoNum type="arabicPeriod"/>
            </a:pPr>
            <a:r>
              <a:rPr lang="en-US" sz="1800" b="1">
                <a:latin typeface="Times New Roman"/>
                <a:cs typeface="Times New Roman"/>
              </a:rPr>
              <a:t>Compliance risk</a:t>
            </a:r>
            <a:r>
              <a:rPr lang="en-US" sz="1800">
                <a:latin typeface="Times New Roman"/>
                <a:cs typeface="Times New Roman"/>
              </a:rPr>
              <a:t> → Regulatory circulars often buried in inboxes, risking penalties.</a:t>
            </a:r>
          </a:p>
          <a:p>
            <a:pPr marL="514350" indent="-514350" algn="just">
              <a:lnSpc>
                <a:spcPct val="120000"/>
              </a:lnSpc>
              <a:buFont typeface="+mj-lt"/>
              <a:buAutoNum type="arabicPeriod"/>
            </a:pPr>
            <a:r>
              <a:rPr lang="en-US" sz="1800" b="1">
                <a:latin typeface="Times New Roman"/>
                <a:cs typeface="Times New Roman"/>
              </a:rPr>
              <a:t>Knowledge attrition</a:t>
            </a:r>
            <a:r>
              <a:rPr lang="en-US" sz="1800">
                <a:latin typeface="Times New Roman"/>
                <a:cs typeface="Times New Roman"/>
              </a:rPr>
              <a:t> → Insights lost when employees transfer or retire.</a:t>
            </a:r>
          </a:p>
          <a:p>
            <a:pPr marL="514350" indent="-514350" algn="just">
              <a:lnSpc>
                <a:spcPct val="120000"/>
              </a:lnSpc>
              <a:buFont typeface="+mj-lt"/>
              <a:buAutoNum type="arabicPeriod"/>
            </a:pPr>
            <a:r>
              <a:rPr lang="en-US" sz="1800" b="1">
                <a:latin typeface="Times New Roman"/>
                <a:cs typeface="Times New Roman"/>
              </a:rPr>
              <a:t>Duplicated effort</a:t>
            </a:r>
            <a:r>
              <a:rPr lang="en-US" sz="1800">
                <a:latin typeface="Times New Roman"/>
                <a:cs typeface="Times New Roman"/>
              </a:rPr>
              <a:t> → Multiple teams summarizing the same docs repeatedly.</a:t>
            </a:r>
          </a:p>
          <a:p>
            <a:pPr marL="514350" indent="-514350" algn="just">
              <a:lnSpc>
                <a:spcPct val="120000"/>
              </a:lnSpc>
              <a:buFont typeface="+mj-lt"/>
              <a:buAutoNum type="arabicPeriod"/>
            </a:pPr>
            <a:r>
              <a:rPr lang="en-US" sz="1800" b="1">
                <a:latin typeface="Times New Roman"/>
                <a:cs typeface="Times New Roman"/>
              </a:rPr>
              <a:t>Scalability issue</a:t>
            </a:r>
            <a:r>
              <a:rPr lang="en-US" sz="1800">
                <a:latin typeface="Times New Roman"/>
                <a:cs typeface="Times New Roman"/>
              </a:rPr>
              <a:t> → With expansion (new depots, UNS, IoT), document burden will increase further.</a:t>
            </a:r>
          </a:p>
          <a:p>
            <a:pPr marL="0" indent="0" algn="just">
              <a:lnSpc>
                <a:spcPct val="120000"/>
              </a:lnSpc>
              <a:buNone/>
            </a:pPr>
            <a:r>
              <a:rPr lang="en-US" sz="1800">
                <a:latin typeface="Times New Roman"/>
                <a:cs typeface="Times New Roman"/>
              </a:rPr>
              <a:t>Without a centralized mechanism, KMRL risks slower decisions, higher costs, weaker compliance, and reduced service reliability.</a:t>
            </a:r>
          </a:p>
          <a:p>
            <a:pPr marL="0" indent="0">
              <a:buNone/>
            </a:pPr>
            <a:endParaRPr lang="en-IN" sz="1400">
              <a:ea typeface="Calibri"/>
              <a:cs typeface="Calibri"/>
            </a:endParaRPr>
          </a:p>
        </p:txBody>
      </p:sp>
    </p:spTree>
    <p:extLst>
      <p:ext uri="{BB962C8B-B14F-4D97-AF65-F5344CB8AC3E}">
        <p14:creationId xmlns:p14="http://schemas.microsoft.com/office/powerpoint/2010/main" val="1677219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80A60-A1CA-A7F2-3DAE-770DE6864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F7528-8FC5-DB6D-56E1-BF974A5CA5C5}"/>
              </a:ext>
            </a:extLst>
          </p:cNvPr>
          <p:cNvSpPr>
            <a:spLocks noGrp="1"/>
          </p:cNvSpPr>
          <p:nvPr>
            <p:ph type="ctrTitle"/>
          </p:nvPr>
        </p:nvSpPr>
        <p:spPr>
          <a:xfrm>
            <a:off x="1404730" y="565772"/>
            <a:ext cx="9144000" cy="835646"/>
          </a:xfrm>
        </p:spPr>
        <p:txBody>
          <a:bodyPr>
            <a:normAutofit/>
          </a:bodyPr>
          <a:lstStyle/>
          <a:p>
            <a:pPr algn="l"/>
            <a:r>
              <a:rPr lang="en-US" sz="5400">
                <a:latin typeface="Times New Roman"/>
                <a:cs typeface="Times New Roman"/>
              </a:rPr>
              <a:t>5. Objective</a:t>
            </a: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FA8EE83-6DEF-B7C4-D23E-CEFC3D0286AB}"/>
              </a:ext>
            </a:extLst>
          </p:cNvPr>
          <p:cNvSpPr>
            <a:spLocks noGrp="1"/>
          </p:cNvSpPr>
          <p:nvPr>
            <p:ph type="subTitle" idx="1"/>
          </p:nvPr>
        </p:nvSpPr>
        <p:spPr>
          <a:xfrm>
            <a:off x="1524000" y="1898374"/>
            <a:ext cx="9144000" cy="3578087"/>
          </a:xfrm>
        </p:spPr>
        <p:txBody>
          <a:bodyPr>
            <a:normAutofit fontScale="92500"/>
          </a:bodyPr>
          <a:lstStyle/>
          <a:p>
            <a:pPr algn="just">
              <a:lnSpc>
                <a:spcPct val="150000"/>
              </a:lnSpc>
            </a:pPr>
            <a:r>
              <a:rPr lang="en-US" dirty="0">
                <a:latin typeface="Times New Roman" panose="02020603050405020304" pitchFamily="18" charset="0"/>
                <a:cs typeface="Times New Roman" panose="02020603050405020304" pitchFamily="18" charset="0"/>
              </a:rPr>
              <a:t>The objective is to build a centralized Document Intelligence Platform for KMRL that can ingest documents from multiple sources, generate bilingual and role-specific summaries, and route critical updates to the right teams. The system will preserve institutional knowledge in a secure, searchable hub while maintaining full traceability to original documents. It will also be scalable to support future expansion with UNS and IoT integrations.</a:t>
            </a:r>
          </a:p>
          <a:p>
            <a:endParaRPr lang="en-IN" dirty="0"/>
          </a:p>
        </p:txBody>
      </p:sp>
    </p:spTree>
    <p:extLst>
      <p:ext uri="{BB962C8B-B14F-4D97-AF65-F5344CB8AC3E}">
        <p14:creationId xmlns:p14="http://schemas.microsoft.com/office/powerpoint/2010/main" val="1645349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8AE2D-D935-41E4-6FC1-30289A325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74E41-327A-BE1A-3DDA-B85DBC732DFB}"/>
              </a:ext>
            </a:extLst>
          </p:cNvPr>
          <p:cNvSpPr>
            <a:spLocks noGrp="1"/>
          </p:cNvSpPr>
          <p:nvPr>
            <p:ph type="ctrTitle"/>
          </p:nvPr>
        </p:nvSpPr>
        <p:spPr>
          <a:xfrm>
            <a:off x="1524000" y="685916"/>
            <a:ext cx="9144000" cy="835646"/>
          </a:xfrm>
        </p:spPr>
        <p:txBody>
          <a:bodyPr>
            <a:normAutofit/>
          </a:bodyPr>
          <a:lstStyle/>
          <a:p>
            <a:pPr algn="l"/>
            <a:r>
              <a:rPr lang="en-US" sz="5400">
                <a:latin typeface="Times New Roman"/>
                <a:cs typeface="Times New Roman"/>
              </a:rPr>
              <a:t>6. Proposed Solution</a:t>
            </a:r>
            <a:endParaRPr lang="en-IN" sz="5400">
              <a:latin typeface="Times New Roman"/>
              <a:cs typeface="Times New Roman"/>
            </a:endParaRPr>
          </a:p>
        </p:txBody>
      </p:sp>
      <p:sp>
        <p:nvSpPr>
          <p:cNvPr id="3" name="Subtitle 2">
            <a:extLst>
              <a:ext uri="{FF2B5EF4-FFF2-40B4-BE49-F238E27FC236}">
                <a16:creationId xmlns:a16="http://schemas.microsoft.com/office/drawing/2014/main" id="{96D4970D-F272-739B-FB35-572FB695E1D3}"/>
              </a:ext>
            </a:extLst>
          </p:cNvPr>
          <p:cNvSpPr>
            <a:spLocks noGrp="1"/>
          </p:cNvSpPr>
          <p:nvPr>
            <p:ph type="subTitle" idx="1"/>
          </p:nvPr>
        </p:nvSpPr>
        <p:spPr>
          <a:xfrm>
            <a:off x="1524000" y="1952883"/>
            <a:ext cx="9144000" cy="3578087"/>
          </a:xfrm>
        </p:spPr>
        <p:txBody>
          <a:bodyPr vert="horz" lIns="91440" tIns="45720" rIns="91440" bIns="45720" rtlCol="0" anchor="t">
            <a:normAutofit/>
          </a:bodyPr>
          <a:lstStyle/>
          <a:p>
            <a:pPr algn="just" fontAlgn="base"/>
            <a:r>
              <a:rPr lang="en-US">
                <a:latin typeface="Times New Roman"/>
                <a:cs typeface="Times New Roman"/>
              </a:rPr>
              <a:t>To address those problems, we propose the following solutions:</a:t>
            </a:r>
            <a:endParaRPr lang="en-US" dirty="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atin typeface="Times New Roman"/>
                <a:cs typeface="Times New Roman"/>
              </a:rPr>
              <a:t>One platform to collect all kinds of documents in one place.​</a:t>
            </a:r>
          </a:p>
          <a:p>
            <a:pPr marL="342900" indent="-342900" algn="just" fontAlgn="base">
              <a:lnSpc>
                <a:spcPct val="100000"/>
              </a:lnSpc>
              <a:buFont typeface="Arial" panose="020B0604020202020204" pitchFamily="34" charset="0"/>
              <a:buChar char="•"/>
            </a:pPr>
            <a:r>
              <a:rPr lang="en-US">
                <a:latin typeface="Times New Roman"/>
                <a:cs typeface="Times New Roman"/>
              </a:rPr>
              <a:t>Auto-extracts and highlights only the key points that matter.​</a:t>
            </a:r>
          </a:p>
          <a:p>
            <a:pPr marL="342900" indent="-342900" algn="just" fontAlgn="base">
              <a:lnSpc>
                <a:spcPct val="100000"/>
              </a:lnSpc>
              <a:buFont typeface="Arial" panose="020B0604020202020204" pitchFamily="34" charset="0"/>
              <a:buChar char="•"/>
            </a:pPr>
            <a:r>
              <a:rPr lang="en-US">
                <a:latin typeface="Times New Roman"/>
                <a:cs typeface="Times New Roman"/>
              </a:rPr>
              <a:t>Shares role-specific digests → right info to right people.​</a:t>
            </a:r>
          </a:p>
          <a:p>
            <a:pPr marL="342900" indent="-342900" algn="just" fontAlgn="base">
              <a:lnSpc>
                <a:spcPct val="100000"/>
              </a:lnSpc>
              <a:buFont typeface="Arial" panose="020B0604020202020204" pitchFamily="34" charset="0"/>
              <a:buChar char="•"/>
            </a:pPr>
            <a:r>
              <a:rPr lang="en-US">
                <a:latin typeface="Times New Roman"/>
                <a:cs typeface="Times New Roman"/>
              </a:rPr>
              <a:t>Links every summary back to the original document for trust.​</a:t>
            </a:r>
          </a:p>
          <a:p>
            <a:pPr marL="342900" indent="-342900" algn="just" fontAlgn="base">
              <a:lnSpc>
                <a:spcPct val="100000"/>
              </a:lnSpc>
              <a:buFont typeface="Arial" panose="020B0604020202020204" pitchFamily="34" charset="0"/>
              <a:buChar char="•"/>
            </a:pPr>
            <a:r>
              <a:rPr lang="en-US">
                <a:latin typeface="Times New Roman"/>
                <a:cs typeface="Times New Roman"/>
              </a:rPr>
              <a:t>Searchable knowledge hub for old and new documents.​</a:t>
            </a:r>
          </a:p>
          <a:p>
            <a:pPr marL="342900" indent="-342900" algn="just" fontAlgn="base">
              <a:lnSpc>
                <a:spcPct val="100000"/>
              </a:lnSpc>
              <a:buFont typeface="Arial" panose="020B0604020202020204" pitchFamily="34" charset="0"/>
              <a:buChar char="•"/>
            </a:pPr>
            <a:r>
              <a:rPr lang="en-US">
                <a:latin typeface="Times New Roman"/>
                <a:cs typeface="Times New Roman"/>
              </a:rPr>
              <a:t>Alerts for urgent or compliance-related updates.</a:t>
            </a:r>
          </a:p>
          <a:p>
            <a:endParaRPr lang="en-IN" dirty="0"/>
          </a:p>
        </p:txBody>
      </p:sp>
    </p:spTree>
    <p:extLst>
      <p:ext uri="{BB962C8B-B14F-4D97-AF65-F5344CB8AC3E}">
        <p14:creationId xmlns:p14="http://schemas.microsoft.com/office/powerpoint/2010/main" val="85156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data sources&#10;&#10;AI-generated content may be incorrect.">
            <a:extLst>
              <a:ext uri="{FF2B5EF4-FFF2-40B4-BE49-F238E27FC236}">
                <a16:creationId xmlns:a16="http://schemas.microsoft.com/office/drawing/2014/main" id="{96DB2C1D-E6B2-9236-144B-3DAB8345E8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6471" y="349014"/>
            <a:ext cx="7906853" cy="5677692"/>
          </a:xfrm>
          <a:prstGeom prst="rect">
            <a:avLst/>
          </a:prstGeom>
        </p:spPr>
      </p:pic>
      <p:sp>
        <p:nvSpPr>
          <p:cNvPr id="4" name="TextBox 3">
            <a:extLst>
              <a:ext uri="{FF2B5EF4-FFF2-40B4-BE49-F238E27FC236}">
                <a16:creationId xmlns:a16="http://schemas.microsoft.com/office/drawing/2014/main" id="{84AD15B8-25F5-1BDE-12BA-134A7B57C457}"/>
              </a:ext>
            </a:extLst>
          </p:cNvPr>
          <p:cNvSpPr txBox="1"/>
          <p:nvPr/>
        </p:nvSpPr>
        <p:spPr>
          <a:xfrm>
            <a:off x="4807975" y="6180010"/>
            <a:ext cx="6096000" cy="369332"/>
          </a:xfrm>
          <a:prstGeom prst="rect">
            <a:avLst/>
          </a:prstGeom>
          <a:noFill/>
        </p:spPr>
        <p:txBody>
          <a:bodyPr wrap="square">
            <a:spAutoFit/>
          </a:bodyPr>
          <a:lstStyle/>
          <a:p>
            <a:r>
              <a:rPr lang="en-IN" dirty="0">
                <a:solidFill>
                  <a:srgbClr val="000000"/>
                </a:solidFill>
                <a:latin typeface="Calibri" panose="020F0502020204030204" pitchFamily="34" charset="0"/>
              </a:rPr>
              <a:t>Process Flow</a:t>
            </a:r>
            <a:endParaRPr lang="en-US" dirty="0"/>
          </a:p>
        </p:txBody>
      </p:sp>
    </p:spTree>
    <p:extLst>
      <p:ext uri="{BB962C8B-B14F-4D97-AF65-F5344CB8AC3E}">
        <p14:creationId xmlns:p14="http://schemas.microsoft.com/office/powerpoint/2010/main" val="2481356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1D0AE49-176E-B687-9D0E-7A485589BA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304800"/>
            <a:ext cx="7239000" cy="6248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1C4699D-C0F8-729A-4E4F-48425CB791EE}"/>
              </a:ext>
            </a:extLst>
          </p:cNvPr>
          <p:cNvSpPr txBox="1"/>
          <p:nvPr/>
        </p:nvSpPr>
        <p:spPr>
          <a:xfrm>
            <a:off x="5053781" y="6553200"/>
            <a:ext cx="6096000" cy="369332"/>
          </a:xfrm>
          <a:prstGeom prst="rect">
            <a:avLst/>
          </a:prstGeom>
          <a:noFill/>
        </p:spPr>
        <p:txBody>
          <a:bodyPr wrap="square">
            <a:spAutoFit/>
          </a:bodyPr>
          <a:lstStyle/>
          <a:p>
            <a:r>
              <a:rPr lang="en-IN" sz="1800" b="0" i="0" u="none" strike="noStrike" dirty="0">
                <a:solidFill>
                  <a:srgbClr val="000000"/>
                </a:solidFill>
                <a:effectLst/>
                <a:latin typeface="Calibri" panose="020F0502020204030204" pitchFamily="34" charset="0"/>
              </a:rPr>
              <a:t>General Functional Flow</a:t>
            </a:r>
            <a:endParaRPr lang="en-US" dirty="0"/>
          </a:p>
        </p:txBody>
      </p:sp>
    </p:spTree>
    <p:extLst>
      <p:ext uri="{BB962C8B-B14F-4D97-AF65-F5344CB8AC3E}">
        <p14:creationId xmlns:p14="http://schemas.microsoft.com/office/powerpoint/2010/main" val="241762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9ED8C-136A-DAD5-8A3E-8B1C328C6372}"/>
              </a:ext>
            </a:extLst>
          </p:cNvPr>
          <p:cNvSpPr>
            <a:spLocks noGrp="1"/>
          </p:cNvSpPr>
          <p:nvPr>
            <p:ph type="title"/>
          </p:nvPr>
        </p:nvSpPr>
        <p:spPr>
          <a:xfrm>
            <a:off x="284967" y="14935"/>
            <a:ext cx="10515600" cy="785249"/>
          </a:xfrm>
        </p:spPr>
        <p:txBody>
          <a:bodyPr>
            <a:normAutofit/>
          </a:bodyPr>
          <a:lstStyle/>
          <a:p>
            <a:r>
              <a:rPr lang="en-US" sz="4800" dirty="0">
                <a:latin typeface="Times New Roman" panose="02020603050405020304" pitchFamily="18" charset="0"/>
                <a:cs typeface="Times New Roman" panose="02020603050405020304" pitchFamily="18" charset="0"/>
              </a:rPr>
              <a:t>7.Progress</a:t>
            </a:r>
          </a:p>
        </p:txBody>
      </p:sp>
      <p:pic>
        <p:nvPicPr>
          <p:cNvPr id="3" name="Picture 2" descr="A screenshot of a computer&#10;&#10;AI-generated content may be incorrect.">
            <a:extLst>
              <a:ext uri="{FF2B5EF4-FFF2-40B4-BE49-F238E27FC236}">
                <a16:creationId xmlns:a16="http://schemas.microsoft.com/office/drawing/2014/main" id="{DCA55C4A-0655-84DB-0C3A-520B3531DB39}"/>
              </a:ext>
            </a:extLst>
          </p:cNvPr>
          <p:cNvPicPr>
            <a:picLocks noChangeAspect="1"/>
          </p:cNvPicPr>
          <p:nvPr/>
        </p:nvPicPr>
        <p:blipFill>
          <a:blip r:embed="rId2"/>
          <a:stretch>
            <a:fillRect/>
          </a:stretch>
        </p:blipFill>
        <p:spPr>
          <a:xfrm>
            <a:off x="281239" y="805811"/>
            <a:ext cx="11419562" cy="6058483"/>
          </a:xfrm>
          <a:prstGeom prst="rect">
            <a:avLst/>
          </a:prstGeom>
        </p:spPr>
      </p:pic>
    </p:spTree>
    <p:extLst>
      <p:ext uri="{BB962C8B-B14F-4D97-AF65-F5344CB8AC3E}">
        <p14:creationId xmlns:p14="http://schemas.microsoft.com/office/powerpoint/2010/main" val="3149660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2F577008-EDFF-9E1C-0853-C7AEBA8BE3F2}"/>
              </a:ext>
            </a:extLst>
          </p:cNvPr>
          <p:cNvPicPr>
            <a:picLocks noChangeAspect="1"/>
          </p:cNvPicPr>
          <p:nvPr/>
        </p:nvPicPr>
        <p:blipFill>
          <a:blip r:embed="rId2"/>
          <a:stretch>
            <a:fillRect/>
          </a:stretch>
        </p:blipFill>
        <p:spPr>
          <a:xfrm>
            <a:off x="0" y="184812"/>
            <a:ext cx="12192000" cy="6488377"/>
          </a:xfrm>
          <a:prstGeom prst="rect">
            <a:avLst/>
          </a:prstGeom>
        </p:spPr>
      </p:pic>
    </p:spTree>
    <p:extLst>
      <p:ext uri="{BB962C8B-B14F-4D97-AF65-F5344CB8AC3E}">
        <p14:creationId xmlns:p14="http://schemas.microsoft.com/office/powerpoint/2010/main" val="258617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D5CE5CB0-1F1A-3B83-89BB-D7D32256986D}"/>
              </a:ext>
            </a:extLst>
          </p:cNvPr>
          <p:cNvPicPr>
            <a:picLocks noChangeAspect="1"/>
          </p:cNvPicPr>
          <p:nvPr/>
        </p:nvPicPr>
        <p:blipFill>
          <a:blip r:embed="rId2"/>
          <a:stretch>
            <a:fillRect/>
          </a:stretch>
        </p:blipFill>
        <p:spPr>
          <a:xfrm>
            <a:off x="0" y="177262"/>
            <a:ext cx="12192000" cy="6503476"/>
          </a:xfrm>
          <a:prstGeom prst="rect">
            <a:avLst/>
          </a:prstGeom>
        </p:spPr>
      </p:pic>
    </p:spTree>
    <p:extLst>
      <p:ext uri="{BB962C8B-B14F-4D97-AF65-F5344CB8AC3E}">
        <p14:creationId xmlns:p14="http://schemas.microsoft.com/office/powerpoint/2010/main" val="233466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CF41685-3FA8-247B-D675-86975D60FB47}"/>
              </a:ext>
            </a:extLst>
          </p:cNvPr>
          <p:cNvSpPr txBox="1">
            <a:spLocks/>
          </p:cNvSpPr>
          <p:nvPr/>
        </p:nvSpPr>
        <p:spPr>
          <a:xfrm>
            <a:off x="180583" y="328086"/>
            <a:ext cx="10515600" cy="785249"/>
          </a:xfrm>
          <a:prstGeom prst="rect">
            <a:avLst/>
          </a:prstGeom>
        </p:spPr>
        <p:txBody>
          <a:bodyPr lIns="91440" tIns="45720" rIns="91440" bIns="4572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a:cs typeface="Times New Roman"/>
              </a:rPr>
              <a:t>Single Doc Summarizer module (for Scanned Document)</a:t>
            </a:r>
            <a:endParaRPr lang="en-US" sz="3200" dirty="0">
              <a:latin typeface="Times New Roman" panose="02020603050405020304" pitchFamily="18" charset="0"/>
              <a:cs typeface="Times New Roman" panose="02020603050405020304" pitchFamily="18" charset="0"/>
            </a:endParaRPr>
          </a:p>
        </p:txBody>
      </p:sp>
      <p:pic>
        <p:nvPicPr>
          <p:cNvPr id="5" name="Picture 4" descr="A screenshot of a computer&#10;&#10;AI-generated content may be incorrect.">
            <a:extLst>
              <a:ext uri="{FF2B5EF4-FFF2-40B4-BE49-F238E27FC236}">
                <a16:creationId xmlns:a16="http://schemas.microsoft.com/office/drawing/2014/main" id="{4C9DD7ED-1284-5FEA-5A69-0A70E1242D6A}"/>
              </a:ext>
            </a:extLst>
          </p:cNvPr>
          <p:cNvPicPr>
            <a:picLocks noChangeAspect="1"/>
          </p:cNvPicPr>
          <p:nvPr/>
        </p:nvPicPr>
        <p:blipFill>
          <a:blip r:embed="rId2"/>
          <a:srcRect l="-17" r="56429" b="46814"/>
          <a:stretch>
            <a:fillRect/>
          </a:stretch>
        </p:blipFill>
        <p:spPr>
          <a:xfrm>
            <a:off x="6096446" y="2353671"/>
            <a:ext cx="5314347" cy="2088105"/>
          </a:xfrm>
          <a:prstGeom prst="rect">
            <a:avLst/>
          </a:prstGeom>
          <a:ln>
            <a:solidFill>
              <a:schemeClr val="tx1"/>
            </a:solidFill>
          </a:ln>
        </p:spPr>
      </p:pic>
      <p:pic>
        <p:nvPicPr>
          <p:cNvPr id="6" name="Picture 5">
            <a:extLst>
              <a:ext uri="{FF2B5EF4-FFF2-40B4-BE49-F238E27FC236}">
                <a16:creationId xmlns:a16="http://schemas.microsoft.com/office/drawing/2014/main" id="{9A62ABC5-8B34-8C70-74BB-6C53A76E8DEC}"/>
              </a:ext>
            </a:extLst>
          </p:cNvPr>
          <p:cNvPicPr>
            <a:picLocks noChangeAspect="1"/>
          </p:cNvPicPr>
          <p:nvPr/>
        </p:nvPicPr>
        <p:blipFill>
          <a:blip r:embed="rId3"/>
          <a:stretch>
            <a:fillRect/>
          </a:stretch>
        </p:blipFill>
        <p:spPr>
          <a:xfrm>
            <a:off x="181460" y="1116484"/>
            <a:ext cx="4711615" cy="3746718"/>
          </a:xfrm>
          <a:prstGeom prst="rect">
            <a:avLst/>
          </a:prstGeom>
        </p:spPr>
      </p:pic>
      <p:pic>
        <p:nvPicPr>
          <p:cNvPr id="8" name="Picture 7" descr="A white background with black text&#10;&#10;AI-generated content may be incorrect.">
            <a:extLst>
              <a:ext uri="{FF2B5EF4-FFF2-40B4-BE49-F238E27FC236}">
                <a16:creationId xmlns:a16="http://schemas.microsoft.com/office/drawing/2014/main" id="{7C80DC49-BAB0-183E-8480-C6411FAEB5B6}"/>
              </a:ext>
            </a:extLst>
          </p:cNvPr>
          <p:cNvPicPr>
            <a:picLocks noChangeAspect="1"/>
          </p:cNvPicPr>
          <p:nvPr/>
        </p:nvPicPr>
        <p:blipFill>
          <a:blip r:embed="rId4"/>
          <a:stretch>
            <a:fillRect/>
          </a:stretch>
        </p:blipFill>
        <p:spPr>
          <a:xfrm>
            <a:off x="87085" y="5303612"/>
            <a:ext cx="12017829" cy="1454150"/>
          </a:xfrm>
          <a:prstGeom prst="rect">
            <a:avLst/>
          </a:prstGeom>
          <a:ln>
            <a:solidFill>
              <a:schemeClr val="tx1"/>
            </a:solidFill>
          </a:ln>
        </p:spPr>
      </p:pic>
      <p:sp>
        <p:nvSpPr>
          <p:cNvPr id="9" name="Title 1">
            <a:extLst>
              <a:ext uri="{FF2B5EF4-FFF2-40B4-BE49-F238E27FC236}">
                <a16:creationId xmlns:a16="http://schemas.microsoft.com/office/drawing/2014/main" id="{ED02E606-5D79-2558-196B-4DE3EBB9C43E}"/>
              </a:ext>
            </a:extLst>
          </p:cNvPr>
          <p:cNvSpPr txBox="1">
            <a:spLocks/>
          </p:cNvSpPr>
          <p:nvPr/>
        </p:nvSpPr>
        <p:spPr>
          <a:xfrm>
            <a:off x="82015" y="4864147"/>
            <a:ext cx="1183710" cy="440784"/>
          </a:xfrm>
          <a:prstGeom prst="rect">
            <a:avLst/>
          </a:prstGeom>
        </p:spPr>
        <p:txBody>
          <a:bodyPr lIns="91440" tIns="45720" rIns="91440" bIns="4572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a:cs typeface="Times New Roman"/>
              </a:rPr>
              <a:t>Output:</a:t>
            </a:r>
            <a:endParaRPr lang="en-US" sz="2400" dirty="0"/>
          </a:p>
        </p:txBody>
      </p:sp>
      <p:sp>
        <p:nvSpPr>
          <p:cNvPr id="10" name="Title 1">
            <a:extLst>
              <a:ext uri="{FF2B5EF4-FFF2-40B4-BE49-F238E27FC236}">
                <a16:creationId xmlns:a16="http://schemas.microsoft.com/office/drawing/2014/main" id="{073ED527-DD02-0FC1-7122-F103D549A388}"/>
              </a:ext>
            </a:extLst>
          </p:cNvPr>
          <p:cNvSpPr txBox="1">
            <a:spLocks/>
          </p:cNvSpPr>
          <p:nvPr/>
        </p:nvSpPr>
        <p:spPr>
          <a:xfrm>
            <a:off x="6094507" y="2129298"/>
            <a:ext cx="1444668" cy="440784"/>
          </a:xfrm>
          <a:prstGeom prst="rect">
            <a:avLst/>
          </a:prstGeom>
        </p:spPr>
        <p:txBody>
          <a:bodyPr lIns="91440" tIns="45720" rIns="91440" bIns="45720" anchor="t">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a:cs typeface="Times New Roman"/>
              </a:rPr>
              <a:t>Code snippet:</a:t>
            </a:r>
            <a:endParaRPr lang="en-US" dirty="0"/>
          </a:p>
        </p:txBody>
      </p:sp>
    </p:spTree>
    <p:extLst>
      <p:ext uri="{BB962C8B-B14F-4D97-AF65-F5344CB8AC3E}">
        <p14:creationId xmlns:p14="http://schemas.microsoft.com/office/powerpoint/2010/main" val="2020933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CAF240-AA8F-2D77-1D5B-526EA63F1524}"/>
              </a:ext>
            </a:extLst>
          </p:cNvPr>
          <p:cNvSpPr txBox="1"/>
          <p:nvPr/>
        </p:nvSpPr>
        <p:spPr>
          <a:xfrm>
            <a:off x="125260" y="-5219"/>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aseline="0" dirty="0">
                <a:latin typeface="Times New Roman"/>
              </a:rPr>
              <a:t>(for </a:t>
            </a:r>
            <a:r>
              <a:rPr lang="en-US" sz="3200" dirty="0">
                <a:latin typeface="Times New Roman"/>
              </a:rPr>
              <a:t>long pdf/word files)</a:t>
            </a:r>
            <a:endParaRPr lang="en-US" dirty="0"/>
          </a:p>
          <a:p>
            <a:pPr algn="ctr"/>
            <a:endParaRPr lang="en-US"/>
          </a:p>
        </p:txBody>
      </p:sp>
      <p:pic>
        <p:nvPicPr>
          <p:cNvPr id="3" name="Picture 2" descr="A black text on a white background&#10;&#10;AI-generated content may be incorrect.">
            <a:extLst>
              <a:ext uri="{FF2B5EF4-FFF2-40B4-BE49-F238E27FC236}">
                <a16:creationId xmlns:a16="http://schemas.microsoft.com/office/drawing/2014/main" id="{3F63F824-3124-ADB6-1A09-82CA9A431824}"/>
              </a:ext>
            </a:extLst>
          </p:cNvPr>
          <p:cNvPicPr>
            <a:picLocks noChangeAspect="1"/>
          </p:cNvPicPr>
          <p:nvPr/>
        </p:nvPicPr>
        <p:blipFill>
          <a:blip r:embed="rId2"/>
          <a:stretch>
            <a:fillRect/>
          </a:stretch>
        </p:blipFill>
        <p:spPr>
          <a:xfrm>
            <a:off x="65313" y="4051953"/>
            <a:ext cx="12072258" cy="1650442"/>
          </a:xfrm>
          <a:prstGeom prst="rect">
            <a:avLst/>
          </a:prstGeom>
          <a:ln>
            <a:solidFill>
              <a:schemeClr val="tx1"/>
            </a:solidFill>
          </a:ln>
        </p:spPr>
      </p:pic>
      <p:pic>
        <p:nvPicPr>
          <p:cNvPr id="4" name="Picture 3" descr="A screenshot of a computer code&#10;&#10;AI-generated content may be incorrect.">
            <a:extLst>
              <a:ext uri="{FF2B5EF4-FFF2-40B4-BE49-F238E27FC236}">
                <a16:creationId xmlns:a16="http://schemas.microsoft.com/office/drawing/2014/main" id="{A23B4798-BE37-9B92-B795-F9644125436C}"/>
              </a:ext>
            </a:extLst>
          </p:cNvPr>
          <p:cNvPicPr>
            <a:picLocks noChangeAspect="1"/>
          </p:cNvPicPr>
          <p:nvPr/>
        </p:nvPicPr>
        <p:blipFill>
          <a:blip r:embed="rId3"/>
          <a:stretch>
            <a:fillRect/>
          </a:stretch>
        </p:blipFill>
        <p:spPr>
          <a:xfrm>
            <a:off x="122464" y="1166132"/>
            <a:ext cx="6134100" cy="2152650"/>
          </a:xfrm>
          <a:prstGeom prst="rect">
            <a:avLst/>
          </a:prstGeom>
          <a:ln>
            <a:solidFill>
              <a:schemeClr val="tx1"/>
            </a:solidFill>
          </a:ln>
        </p:spPr>
      </p:pic>
      <p:sp>
        <p:nvSpPr>
          <p:cNvPr id="6" name="Title 1">
            <a:extLst>
              <a:ext uri="{FF2B5EF4-FFF2-40B4-BE49-F238E27FC236}">
                <a16:creationId xmlns:a16="http://schemas.microsoft.com/office/drawing/2014/main" id="{8392537B-E710-7437-8F19-E3FEE6D94D1D}"/>
              </a:ext>
            </a:extLst>
          </p:cNvPr>
          <p:cNvSpPr txBox="1">
            <a:spLocks/>
          </p:cNvSpPr>
          <p:nvPr/>
        </p:nvSpPr>
        <p:spPr>
          <a:xfrm>
            <a:off x="61137" y="887134"/>
            <a:ext cx="1444668" cy="440784"/>
          </a:xfrm>
          <a:prstGeom prst="rect">
            <a:avLst/>
          </a:prstGeom>
        </p:spPr>
        <p:txBody>
          <a:bodyPr lIns="91440" tIns="45720" rIns="91440" bIns="45720" anchor="t">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a:cs typeface="Times New Roman"/>
              </a:rPr>
              <a:t>Code snippet:</a:t>
            </a:r>
            <a:endParaRPr lang="en-US" dirty="0"/>
          </a:p>
        </p:txBody>
      </p:sp>
      <p:sp>
        <p:nvSpPr>
          <p:cNvPr id="7" name="Title 1">
            <a:extLst>
              <a:ext uri="{FF2B5EF4-FFF2-40B4-BE49-F238E27FC236}">
                <a16:creationId xmlns:a16="http://schemas.microsoft.com/office/drawing/2014/main" id="{4C0851F9-EA8D-C77D-DCC1-EF16343253F8}"/>
              </a:ext>
            </a:extLst>
          </p:cNvPr>
          <p:cNvSpPr txBox="1">
            <a:spLocks/>
          </p:cNvSpPr>
          <p:nvPr/>
        </p:nvSpPr>
        <p:spPr>
          <a:xfrm>
            <a:off x="61137" y="3611544"/>
            <a:ext cx="1444668" cy="440784"/>
          </a:xfrm>
          <a:prstGeom prst="rect">
            <a:avLst/>
          </a:prstGeom>
        </p:spPr>
        <p:txBody>
          <a:bodyPr lIns="91440" tIns="45720" rIns="91440" bIns="4572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latin typeface="Times New Roman"/>
                <a:cs typeface="Times New Roman"/>
              </a:rPr>
              <a:t>Output:</a:t>
            </a:r>
            <a:endParaRPr lang="en-US" sz="3600" dirty="0"/>
          </a:p>
        </p:txBody>
      </p:sp>
    </p:spTree>
    <p:extLst>
      <p:ext uri="{BB962C8B-B14F-4D97-AF65-F5344CB8AC3E}">
        <p14:creationId xmlns:p14="http://schemas.microsoft.com/office/powerpoint/2010/main" val="759842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D9A4AC7E-9CEC-578D-A4A6-AE387388AE16}"/>
              </a:ext>
            </a:extLst>
          </p:cNvPr>
          <p:cNvPicPr>
            <a:picLocks noChangeAspect="1"/>
          </p:cNvPicPr>
          <p:nvPr/>
        </p:nvPicPr>
        <p:blipFill>
          <a:blip r:embed="rId2"/>
          <a:stretch>
            <a:fillRect/>
          </a:stretch>
        </p:blipFill>
        <p:spPr>
          <a:xfrm>
            <a:off x="0" y="4813506"/>
            <a:ext cx="11910165" cy="1354140"/>
          </a:xfrm>
          <a:prstGeom prst="rect">
            <a:avLst/>
          </a:prstGeom>
          <a:ln>
            <a:solidFill>
              <a:schemeClr val="tx1"/>
            </a:solidFill>
          </a:ln>
        </p:spPr>
      </p:pic>
      <p:pic>
        <p:nvPicPr>
          <p:cNvPr id="3" name="Picture 2" descr="A diagram of a process&#10;&#10;AI-generated content may be incorrect.">
            <a:extLst>
              <a:ext uri="{FF2B5EF4-FFF2-40B4-BE49-F238E27FC236}">
                <a16:creationId xmlns:a16="http://schemas.microsoft.com/office/drawing/2014/main" id="{B13D306A-E47A-99E6-B3C7-B75275F98E95}"/>
              </a:ext>
            </a:extLst>
          </p:cNvPr>
          <p:cNvPicPr>
            <a:picLocks noChangeAspect="1"/>
          </p:cNvPicPr>
          <p:nvPr/>
        </p:nvPicPr>
        <p:blipFill>
          <a:blip r:embed="rId3"/>
          <a:stretch>
            <a:fillRect/>
          </a:stretch>
        </p:blipFill>
        <p:spPr>
          <a:xfrm>
            <a:off x="230666" y="219205"/>
            <a:ext cx="2927404" cy="4214412"/>
          </a:xfrm>
          <a:prstGeom prst="rect">
            <a:avLst/>
          </a:prstGeom>
          <a:ln>
            <a:solidFill>
              <a:schemeClr val="tx1"/>
            </a:solidFill>
          </a:ln>
        </p:spPr>
      </p:pic>
      <p:pic>
        <p:nvPicPr>
          <p:cNvPr id="4" name="Picture 3" descr="A screen shot of a computer code&#10;&#10;AI-generated content may be incorrect.">
            <a:extLst>
              <a:ext uri="{FF2B5EF4-FFF2-40B4-BE49-F238E27FC236}">
                <a16:creationId xmlns:a16="http://schemas.microsoft.com/office/drawing/2014/main" id="{2095D844-20B1-1896-2D72-6A9D782427D8}"/>
              </a:ext>
            </a:extLst>
          </p:cNvPr>
          <p:cNvPicPr>
            <a:picLocks noChangeAspect="1"/>
          </p:cNvPicPr>
          <p:nvPr/>
        </p:nvPicPr>
        <p:blipFill>
          <a:blip r:embed="rId4"/>
          <a:stretch>
            <a:fillRect/>
          </a:stretch>
        </p:blipFill>
        <p:spPr>
          <a:xfrm>
            <a:off x="5681075" y="2088063"/>
            <a:ext cx="5715000" cy="2076450"/>
          </a:xfrm>
          <a:prstGeom prst="rect">
            <a:avLst/>
          </a:prstGeom>
          <a:ln>
            <a:solidFill>
              <a:schemeClr val="tx1"/>
            </a:solidFill>
          </a:ln>
        </p:spPr>
      </p:pic>
      <p:sp>
        <p:nvSpPr>
          <p:cNvPr id="6" name="Title 1">
            <a:extLst>
              <a:ext uri="{FF2B5EF4-FFF2-40B4-BE49-F238E27FC236}">
                <a16:creationId xmlns:a16="http://schemas.microsoft.com/office/drawing/2014/main" id="{F071B29B-E12D-9E06-7A72-33E45B061A73}"/>
              </a:ext>
            </a:extLst>
          </p:cNvPr>
          <p:cNvSpPr txBox="1">
            <a:spLocks/>
          </p:cNvSpPr>
          <p:nvPr/>
        </p:nvSpPr>
        <p:spPr>
          <a:xfrm>
            <a:off x="-5071" y="4428718"/>
            <a:ext cx="1183710" cy="440784"/>
          </a:xfrm>
          <a:prstGeom prst="rect">
            <a:avLst/>
          </a:prstGeom>
        </p:spPr>
        <p:txBody>
          <a:bodyPr lIns="91440" tIns="45720" rIns="91440" bIns="4572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a:cs typeface="Times New Roman"/>
              </a:rPr>
              <a:t>Output:</a:t>
            </a:r>
            <a:endParaRPr lang="en-US" sz="2400" dirty="0"/>
          </a:p>
        </p:txBody>
      </p:sp>
      <p:sp>
        <p:nvSpPr>
          <p:cNvPr id="8" name="Title 1">
            <a:extLst>
              <a:ext uri="{FF2B5EF4-FFF2-40B4-BE49-F238E27FC236}">
                <a16:creationId xmlns:a16="http://schemas.microsoft.com/office/drawing/2014/main" id="{66F04F35-9A14-CD4A-9968-F52C0499AD6C}"/>
              </a:ext>
            </a:extLst>
          </p:cNvPr>
          <p:cNvSpPr txBox="1">
            <a:spLocks/>
          </p:cNvSpPr>
          <p:nvPr/>
        </p:nvSpPr>
        <p:spPr>
          <a:xfrm>
            <a:off x="5541274" y="1711764"/>
            <a:ext cx="1444668" cy="440784"/>
          </a:xfrm>
          <a:prstGeom prst="rect">
            <a:avLst/>
          </a:prstGeom>
        </p:spPr>
        <p:txBody>
          <a:bodyPr lIns="91440" tIns="45720" rIns="91440" bIns="45720" anchor="t">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a:cs typeface="Times New Roman"/>
              </a:rPr>
              <a:t>Code snippet:</a:t>
            </a:r>
            <a:endParaRPr lang="en-US" dirty="0"/>
          </a:p>
        </p:txBody>
      </p:sp>
      <p:sp>
        <p:nvSpPr>
          <p:cNvPr id="10" name="TextBox 9">
            <a:extLst>
              <a:ext uri="{FF2B5EF4-FFF2-40B4-BE49-F238E27FC236}">
                <a16:creationId xmlns:a16="http://schemas.microsoft.com/office/drawing/2014/main" id="{F63FA241-57D2-A926-EC99-618581E10291}"/>
              </a:ext>
            </a:extLst>
          </p:cNvPr>
          <p:cNvSpPr txBox="1"/>
          <p:nvPr/>
        </p:nvSpPr>
        <p:spPr>
          <a:xfrm>
            <a:off x="3820438" y="589767"/>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aseline="0" dirty="0">
                <a:latin typeface="Times New Roman"/>
              </a:rPr>
              <a:t>(for </a:t>
            </a:r>
            <a:r>
              <a:rPr lang="en-US" sz="3200" dirty="0">
                <a:latin typeface="Times New Roman"/>
              </a:rPr>
              <a:t>images/diagrams)</a:t>
            </a:r>
            <a:endParaRPr lang="en-US" dirty="0"/>
          </a:p>
          <a:p>
            <a:pPr algn="ctr"/>
            <a:endParaRPr lang="en-US"/>
          </a:p>
        </p:txBody>
      </p:sp>
    </p:spTree>
    <p:extLst>
      <p:ext uri="{BB962C8B-B14F-4D97-AF65-F5344CB8AC3E}">
        <p14:creationId xmlns:p14="http://schemas.microsoft.com/office/powerpoint/2010/main" val="2592638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C226C-796E-59C0-3DC7-05CA4B7BE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A4AD1-D94F-E0F1-B188-541F00DBAAE4}"/>
              </a:ext>
            </a:extLst>
          </p:cNvPr>
          <p:cNvSpPr>
            <a:spLocks noGrp="1"/>
          </p:cNvSpPr>
          <p:nvPr>
            <p:ph type="ctrTitle"/>
          </p:nvPr>
        </p:nvSpPr>
        <p:spPr>
          <a:xfrm>
            <a:off x="1404730" y="147949"/>
            <a:ext cx="9144000" cy="835646"/>
          </a:xfrm>
        </p:spPr>
        <p:txBody>
          <a:bodyPr>
            <a:normAutofit/>
          </a:bodyPr>
          <a:lstStyle/>
          <a:p>
            <a:pPr algn="l"/>
            <a:r>
              <a:rPr lang="en-US" sz="5400" dirty="0">
                <a:latin typeface="Times New Roman"/>
                <a:cs typeface="Times New Roman"/>
              </a:rPr>
              <a:t>8. Methodology</a:t>
            </a:r>
            <a:endParaRPr lang="en-IN" sz="5400" dirty="0">
              <a:latin typeface="Times New Roman" panose="02020603050405020304" pitchFamily="18" charset="0"/>
              <a:cs typeface="Times New Roman" panose="02020603050405020304" pitchFamily="18" charset="0"/>
            </a:endParaRPr>
          </a:p>
        </p:txBody>
      </p:sp>
      <p:pic>
        <p:nvPicPr>
          <p:cNvPr id="1026" name="Picture 2" descr="A diagram of a software system&#10;&#10;AI-generated content may be incorrect.">
            <a:extLst>
              <a:ext uri="{FF2B5EF4-FFF2-40B4-BE49-F238E27FC236}">
                <a16:creationId xmlns:a16="http://schemas.microsoft.com/office/drawing/2014/main" id="{C105B44F-13DB-54B0-28AE-03E69CFCB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730" y="983595"/>
            <a:ext cx="3573532" cy="53602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Diagram 3">
            <a:extLst>
              <a:ext uri="{FF2B5EF4-FFF2-40B4-BE49-F238E27FC236}">
                <a16:creationId xmlns:a16="http://schemas.microsoft.com/office/drawing/2014/main" id="{6801B517-B17B-382B-DE0B-83839B008D85}"/>
              </a:ext>
            </a:extLst>
          </p:cNvPr>
          <p:cNvGraphicFramePr/>
          <p:nvPr/>
        </p:nvGraphicFramePr>
        <p:xfrm>
          <a:off x="7534689" y="1099423"/>
          <a:ext cx="6286500" cy="5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8">
            <a:extLst>
              <a:ext uri="{FF2B5EF4-FFF2-40B4-BE49-F238E27FC236}">
                <a16:creationId xmlns:a16="http://schemas.microsoft.com/office/drawing/2014/main" id="{F9580037-FD35-B02A-965E-A589330CD974}"/>
              </a:ext>
            </a:extLst>
          </p:cNvPr>
          <p:cNvSpPr txBox="1">
            <a:spLocks noChangeArrowheads="1"/>
          </p:cNvSpPr>
          <p:nvPr/>
        </p:nvSpPr>
        <p:spPr bwMode="auto">
          <a:xfrm>
            <a:off x="1404730" y="1099423"/>
            <a:ext cx="4320209" cy="5570756"/>
          </a:xfrm>
          <a:prstGeom prst="rect">
            <a:avLst/>
          </a:prstGeom>
          <a:noFill/>
          <a:ln w="9525">
            <a:solidFill>
              <a:schemeClr val="tx1"/>
            </a:solidFill>
            <a:miter lim="800000"/>
            <a:headEnd/>
            <a:tailEnd/>
          </a:ln>
        </p:spPr>
        <p:txBody>
          <a:bodyPr wrap="square" lIns="91440" tIns="45720" rIns="91440" bIns="45720" anchor="t">
            <a:spAutoFit/>
          </a:bodyPr>
          <a:ls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a:lstStyle>
          <a:p>
            <a:pPr algn="just">
              <a:lnSpc>
                <a:spcPct val="150000"/>
              </a:lnSpc>
            </a:pPr>
            <a:r>
              <a:rPr lang="en-US" sz="2400" b="1" dirty="0">
                <a:solidFill>
                  <a:schemeClr val="dk1"/>
                </a:solidFill>
                <a:latin typeface="Times New Roman"/>
                <a:ea typeface="ＭＳ Ｐゴシック"/>
                <a:cs typeface="Times New Roman"/>
              </a:rPr>
              <a:t>Technology Used:</a:t>
            </a:r>
          </a:p>
          <a:p>
            <a:pPr marL="457200" algn="just">
              <a:lnSpc>
                <a:spcPct val="150000"/>
              </a:lnSpc>
              <a:buFont typeface="Arial"/>
              <a:buChar char="•"/>
            </a:pPr>
            <a:r>
              <a:rPr lang="en-US" sz="2000" dirty="0">
                <a:solidFill>
                  <a:schemeClr val="dk1"/>
                </a:solidFill>
                <a:latin typeface="Times New Roman"/>
                <a:ea typeface="Calibri"/>
                <a:cs typeface="Times New Roman"/>
              </a:rPr>
              <a:t>OCR: Tesseract </a:t>
            </a:r>
          </a:p>
          <a:p>
            <a:pPr marL="457200" algn="just">
              <a:lnSpc>
                <a:spcPct val="150000"/>
              </a:lnSpc>
              <a:buFont typeface="Arial"/>
              <a:buChar char="•"/>
            </a:pPr>
            <a:r>
              <a:rPr lang="en-US" sz="2000" dirty="0">
                <a:solidFill>
                  <a:schemeClr val="dk1"/>
                </a:solidFill>
                <a:latin typeface="Times New Roman"/>
                <a:ea typeface="Calibri"/>
                <a:cs typeface="Times New Roman"/>
              </a:rPr>
              <a:t>NLP: Hugging Face Transformers</a:t>
            </a:r>
            <a:endParaRPr lang="en-US" sz="2000" dirty="0">
              <a:solidFill>
                <a:schemeClr val="dk1"/>
              </a:solidFill>
              <a:latin typeface="Times New Roman"/>
              <a:cs typeface="Times New Roman"/>
            </a:endParaRPr>
          </a:p>
          <a:p>
            <a:pPr lvl="1" algn="just">
              <a:lnSpc>
                <a:spcPct val="150000"/>
              </a:lnSpc>
              <a:buFont typeface="Arial"/>
              <a:buChar char="•"/>
            </a:pPr>
            <a:r>
              <a:rPr lang="en-US" sz="2000" dirty="0">
                <a:solidFill>
                  <a:schemeClr val="dk1"/>
                </a:solidFill>
                <a:latin typeface="Times New Roman"/>
                <a:ea typeface="Calibri"/>
                <a:cs typeface="Times New Roman"/>
              </a:rPr>
              <a:t>Summarization: Pegasus, GPT models</a:t>
            </a:r>
            <a:endParaRPr lang="en-US" sz="2000" dirty="0">
              <a:solidFill>
                <a:schemeClr val="dk1"/>
              </a:solidFill>
              <a:latin typeface="Times New Roman"/>
              <a:cs typeface="Times New Roman"/>
            </a:endParaRPr>
          </a:p>
          <a:p>
            <a:pPr lvl="1" algn="just">
              <a:lnSpc>
                <a:spcPct val="150000"/>
              </a:lnSpc>
              <a:buFont typeface="Arial"/>
              <a:buChar char="•"/>
            </a:pPr>
            <a:r>
              <a:rPr lang="en-US" sz="2000" dirty="0">
                <a:solidFill>
                  <a:schemeClr val="dk1"/>
                </a:solidFill>
                <a:latin typeface="Times New Roman"/>
                <a:ea typeface="Calibri"/>
                <a:cs typeface="Times New Roman"/>
              </a:rPr>
              <a:t>Search: Elasticsearch</a:t>
            </a:r>
          </a:p>
          <a:p>
            <a:pPr lvl="1" algn="just">
              <a:lnSpc>
                <a:spcPct val="150000"/>
              </a:lnSpc>
              <a:buFont typeface="Arial"/>
              <a:buChar char="•"/>
            </a:pPr>
            <a:r>
              <a:rPr lang="en-US" sz="2000" dirty="0">
                <a:solidFill>
                  <a:schemeClr val="dk1"/>
                </a:solidFill>
                <a:latin typeface="Times New Roman"/>
                <a:ea typeface="Calibri"/>
                <a:cs typeface="Times New Roman"/>
              </a:rPr>
              <a:t>Frontend: React, Power BI</a:t>
            </a:r>
            <a:endParaRPr lang="en-US" sz="2000" dirty="0">
              <a:solidFill>
                <a:schemeClr val="dk1"/>
              </a:solidFill>
              <a:latin typeface="Times New Roman"/>
              <a:cs typeface="Times New Roman"/>
            </a:endParaRPr>
          </a:p>
          <a:p>
            <a:pPr lvl="1" algn="just">
              <a:lnSpc>
                <a:spcPct val="150000"/>
              </a:lnSpc>
              <a:buFont typeface="Arial"/>
              <a:buChar char="•"/>
            </a:pPr>
            <a:r>
              <a:rPr lang="en-US" sz="2000" dirty="0">
                <a:solidFill>
                  <a:schemeClr val="dk1"/>
                </a:solidFill>
                <a:latin typeface="Times New Roman"/>
                <a:ea typeface="Calibri"/>
                <a:cs typeface="Times New Roman"/>
              </a:rPr>
              <a:t>Notifications: Firebase, Twilio</a:t>
            </a:r>
          </a:p>
          <a:p>
            <a:pPr lvl="1" algn="just">
              <a:lnSpc>
                <a:spcPct val="150000"/>
              </a:lnSpc>
              <a:buFont typeface="Arial"/>
              <a:buChar char="•"/>
            </a:pPr>
            <a:r>
              <a:rPr lang="en-US" sz="2000" dirty="0">
                <a:solidFill>
                  <a:schemeClr val="dk1"/>
                </a:solidFill>
                <a:latin typeface="Times New Roman"/>
                <a:ea typeface="Calibri"/>
                <a:cs typeface="Times New Roman"/>
              </a:rPr>
              <a:t>APIs: WhatsApp Business Api, Microsoft Graph Api, Google Translate Api.</a:t>
            </a:r>
          </a:p>
          <a:p>
            <a:pPr lvl="1" algn="just">
              <a:buFont typeface="Arial"/>
              <a:buChar char="•"/>
            </a:pPr>
            <a:endParaRPr lang="en-US" sz="2000" dirty="0">
              <a:solidFill>
                <a:schemeClr val="dk1"/>
              </a:solidFill>
              <a:latin typeface="Times New Roman"/>
              <a:ea typeface="Calibri"/>
              <a:cs typeface="Times New Roman"/>
            </a:endParaRPr>
          </a:p>
        </p:txBody>
      </p:sp>
    </p:spTree>
    <p:extLst>
      <p:ext uri="{BB962C8B-B14F-4D97-AF65-F5344CB8AC3E}">
        <p14:creationId xmlns:p14="http://schemas.microsoft.com/office/powerpoint/2010/main" val="1822088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86E4B-F275-F18E-7678-B8FD20EFF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2E71B-40AB-67A4-9BBB-08ED10EBEAD0}"/>
              </a:ext>
            </a:extLst>
          </p:cNvPr>
          <p:cNvSpPr>
            <a:spLocks noGrp="1"/>
          </p:cNvSpPr>
          <p:nvPr>
            <p:ph type="ctrTitle"/>
          </p:nvPr>
        </p:nvSpPr>
        <p:spPr>
          <a:xfrm>
            <a:off x="1362977" y="565772"/>
            <a:ext cx="10323534" cy="804330"/>
          </a:xfrm>
        </p:spPr>
        <p:txBody>
          <a:bodyPr>
            <a:normAutofit fontScale="90000"/>
          </a:bodyPr>
          <a:lstStyle/>
          <a:p>
            <a:pPr algn="l"/>
            <a:r>
              <a:rPr lang="en-US" sz="5400" dirty="0">
                <a:latin typeface="Times New Roman"/>
                <a:cs typeface="Times New Roman"/>
              </a:rPr>
              <a:t>9. Hardware &amp; Software Requirements</a:t>
            </a:r>
            <a:endParaRPr lang="en-US"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34F2DB4-DA75-CDB9-7B78-870791A60DF9}"/>
              </a:ext>
            </a:extLst>
          </p:cNvPr>
          <p:cNvSpPr>
            <a:spLocks noGrp="1"/>
          </p:cNvSpPr>
          <p:nvPr>
            <p:ph type="subTitle" idx="1"/>
          </p:nvPr>
        </p:nvSpPr>
        <p:spPr>
          <a:xfrm>
            <a:off x="1555315" y="1595661"/>
            <a:ext cx="9488465" cy="5039457"/>
          </a:xfrm>
        </p:spPr>
        <p:txBody>
          <a:bodyPr vert="horz" lIns="91440" tIns="45720" rIns="91440" bIns="45720" rtlCol="0" anchor="t">
            <a:noAutofit/>
          </a:bodyPr>
          <a:lstStyle/>
          <a:p>
            <a:pPr algn="just"/>
            <a:r>
              <a:rPr lang="en-US" sz="2000" b="1">
                <a:latin typeface="Times New Roman"/>
                <a:cs typeface="Times New Roman"/>
              </a:rPr>
              <a:t>Hardware Requirements</a:t>
            </a:r>
            <a:endParaRPr lang="en-US" sz="2000">
              <a:latin typeface="Times New Roman"/>
              <a:cs typeface="Times New Roman"/>
            </a:endParaRPr>
          </a:p>
          <a:p>
            <a:pPr marL="457200" indent="-457200" algn="just">
              <a:buAutoNum type="arabicPeriod"/>
            </a:pPr>
            <a:r>
              <a:rPr lang="en-US" sz="2000">
                <a:latin typeface="Times New Roman"/>
                <a:ea typeface="+mn-lt"/>
                <a:cs typeface="+mn-lt"/>
              </a:rPr>
              <a:t>Server: 4-core CPU, 16 GB RAM, 1 TB storage</a:t>
            </a:r>
            <a:endParaRPr lang="en-US" sz="2000">
              <a:latin typeface="Times New Roman"/>
              <a:cs typeface="Times New Roman"/>
            </a:endParaRPr>
          </a:p>
          <a:p>
            <a:pPr marL="457200" indent="-457200" algn="just">
              <a:buAutoNum type="arabicPeriod"/>
            </a:pPr>
            <a:r>
              <a:rPr lang="en-US" sz="2000">
                <a:latin typeface="Times New Roman"/>
                <a:ea typeface="+mn-lt"/>
                <a:cs typeface="+mn-lt"/>
              </a:rPr>
              <a:t>Client PCs: i3/i5 CPU, 8 GB RAM, 256 GB storage</a:t>
            </a:r>
            <a:endParaRPr lang="en-US" sz="2000">
              <a:latin typeface="Times New Roman"/>
              <a:cs typeface="Times New Roman"/>
            </a:endParaRPr>
          </a:p>
          <a:p>
            <a:pPr marL="457200" indent="-457200" algn="just">
              <a:buAutoNum type="arabicPeriod"/>
            </a:pPr>
            <a:r>
              <a:rPr lang="en-US" sz="2000">
                <a:latin typeface="Times New Roman"/>
                <a:ea typeface="+mn-lt"/>
                <a:cs typeface="+mn-lt"/>
              </a:rPr>
              <a:t>Backup: External HDD or cloud storage</a:t>
            </a:r>
            <a:endParaRPr lang="en-US" sz="2000">
              <a:latin typeface="Times New Roman"/>
              <a:cs typeface="Times New Roman"/>
            </a:endParaRPr>
          </a:p>
          <a:p>
            <a:pPr marL="457200" indent="-457200" algn="just">
              <a:buAutoNum type="arabicPeriod"/>
            </a:pPr>
            <a:r>
              <a:rPr lang="en-US" sz="2000">
                <a:latin typeface="Times New Roman"/>
                <a:ea typeface="+mn-lt"/>
                <a:cs typeface="+mn-lt"/>
              </a:rPr>
              <a:t>Optional: Scanners and printers</a:t>
            </a:r>
            <a:endParaRPr lang="en-US" sz="2000">
              <a:latin typeface="Times New Roman"/>
              <a:ea typeface="+mn-lt"/>
              <a:cs typeface="Times New Roman"/>
            </a:endParaRPr>
          </a:p>
          <a:p>
            <a:pPr algn="just"/>
            <a:r>
              <a:rPr lang="en-US" sz="2000" b="1">
                <a:latin typeface="Times New Roman"/>
                <a:ea typeface="+mn-lt"/>
                <a:cs typeface="Times New Roman"/>
              </a:rPr>
              <a:t>Software</a:t>
            </a:r>
            <a:r>
              <a:rPr lang="en-US" sz="2000" b="1">
                <a:latin typeface="Times New Roman"/>
                <a:cs typeface="Times New Roman"/>
              </a:rPr>
              <a:t> Requirements</a:t>
            </a:r>
            <a:endParaRPr lang="en-US" sz="2000">
              <a:latin typeface="Times New Roman"/>
              <a:cs typeface="Times New Roman"/>
            </a:endParaRPr>
          </a:p>
          <a:p>
            <a:pPr marL="457200" indent="-457200" algn="just">
              <a:buAutoNum type="arabicPeriod"/>
            </a:pPr>
            <a:r>
              <a:rPr lang="en-US" sz="2000">
                <a:latin typeface="Times New Roman"/>
                <a:ea typeface="+mn-lt"/>
                <a:cs typeface="+mn-lt"/>
              </a:rPr>
              <a:t>Server OS: Windows Server</a:t>
            </a:r>
            <a:endParaRPr lang="en-US" sz="2000">
              <a:latin typeface="Times New Roman"/>
              <a:cs typeface="Times New Roman"/>
            </a:endParaRPr>
          </a:p>
          <a:p>
            <a:pPr marL="457200" indent="-457200" algn="just">
              <a:buAutoNum type="arabicPeriod"/>
            </a:pPr>
            <a:r>
              <a:rPr lang="en-US" sz="2000">
                <a:latin typeface="Times New Roman"/>
                <a:ea typeface="+mn-lt"/>
                <a:cs typeface="+mn-lt"/>
              </a:rPr>
              <a:t>Database: MySQL</a:t>
            </a:r>
            <a:endParaRPr lang="en-US" sz="2000">
              <a:latin typeface="Times New Roman"/>
              <a:cs typeface="Times New Roman"/>
            </a:endParaRPr>
          </a:p>
          <a:p>
            <a:pPr marL="457200" indent="-457200" algn="just">
              <a:buAutoNum type="arabicPeriod"/>
            </a:pPr>
            <a:r>
              <a:rPr lang="en-US" sz="2000">
                <a:latin typeface="Times New Roman"/>
                <a:ea typeface="+mn-lt"/>
                <a:cs typeface="+mn-lt"/>
              </a:rPr>
              <a:t>Web Server: Apache</a:t>
            </a:r>
            <a:endParaRPr lang="en-US" sz="2000">
              <a:latin typeface="Times New Roman"/>
              <a:cs typeface="Times New Roman"/>
            </a:endParaRPr>
          </a:p>
          <a:p>
            <a:pPr marL="457200" indent="-457200" algn="just">
              <a:buAutoNum type="arabicPeriod"/>
            </a:pPr>
            <a:r>
              <a:rPr lang="en-US" sz="2000">
                <a:latin typeface="Times New Roman"/>
                <a:ea typeface="+mn-lt"/>
                <a:cs typeface="+mn-lt"/>
              </a:rPr>
              <a:t>Client OS: Windows</a:t>
            </a:r>
            <a:endParaRPr lang="en-US" sz="2000">
              <a:latin typeface="Times New Roman"/>
              <a:cs typeface="Times New Roman"/>
            </a:endParaRPr>
          </a:p>
          <a:p>
            <a:pPr marL="457200" indent="-457200" algn="just">
              <a:buAutoNum type="arabicPeriod"/>
            </a:pPr>
            <a:r>
              <a:rPr lang="en-US" sz="2000">
                <a:latin typeface="Times New Roman"/>
                <a:ea typeface="+mn-lt"/>
                <a:cs typeface="+mn-lt"/>
              </a:rPr>
              <a:t>Web Browser: Chrome</a:t>
            </a:r>
            <a:endParaRPr lang="en-US" sz="2000">
              <a:latin typeface="Times New Roman"/>
              <a:cs typeface="Times New Roman"/>
            </a:endParaRPr>
          </a:p>
          <a:p>
            <a:pPr marL="457200" indent="-457200" algn="just">
              <a:buAutoNum type="arabicPeriod"/>
            </a:pPr>
            <a:r>
              <a:rPr lang="en-US" sz="2000">
                <a:latin typeface="Times New Roman"/>
                <a:ea typeface="+mn-lt"/>
                <a:cs typeface="+mn-lt"/>
              </a:rPr>
              <a:t>Security: Antivirus, SSL/TLS, backup software</a:t>
            </a:r>
            <a:endParaRPr lang="en-US" sz="2000">
              <a:latin typeface="Times New Roman"/>
              <a:cs typeface="Times New Roman"/>
            </a:endParaRPr>
          </a:p>
          <a:p>
            <a:pPr marL="457200" indent="-457200" algn="just">
              <a:lnSpc>
                <a:spcPct val="150000"/>
              </a:lnSpc>
              <a:buAutoNum type="arabicPeriod"/>
            </a:pPr>
            <a:endParaRPr lang="en-US" sz="2000">
              <a:latin typeface="Times New Roman" panose="02020603050405020304" pitchFamily="18" charset="0"/>
              <a:cs typeface="Times New Roman" panose="02020603050405020304" pitchFamily="18" charset="0"/>
            </a:endParaRPr>
          </a:p>
          <a:p>
            <a:pPr marL="457200" indent="-457200">
              <a:buAutoNum type="arabicPeriod"/>
            </a:pPr>
            <a:endParaRPr lang="en-IN" sz="2000">
              <a:latin typeface="Times New Roman"/>
              <a:cs typeface="Times New Roman"/>
            </a:endParaRPr>
          </a:p>
        </p:txBody>
      </p:sp>
    </p:spTree>
    <p:extLst>
      <p:ext uri="{BB962C8B-B14F-4D97-AF65-F5344CB8AC3E}">
        <p14:creationId xmlns:p14="http://schemas.microsoft.com/office/powerpoint/2010/main" val="4143208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C2E3F-7112-8D1C-945A-CB24C6605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A40BE-876F-1AEB-8D42-89CDE8C69CF4}"/>
              </a:ext>
            </a:extLst>
          </p:cNvPr>
          <p:cNvSpPr>
            <a:spLocks noGrp="1"/>
          </p:cNvSpPr>
          <p:nvPr>
            <p:ph type="ctrTitle"/>
          </p:nvPr>
        </p:nvSpPr>
        <p:spPr>
          <a:xfrm>
            <a:off x="1404730" y="565772"/>
            <a:ext cx="9144000" cy="835646"/>
          </a:xfrm>
        </p:spPr>
        <p:txBody>
          <a:bodyPr>
            <a:normAutofit/>
          </a:bodyPr>
          <a:lstStyle/>
          <a:p>
            <a:pPr algn="l"/>
            <a:r>
              <a:rPr lang="en-US" sz="5400" dirty="0">
                <a:latin typeface="Times New Roman"/>
                <a:cs typeface="Times New Roman"/>
              </a:rPr>
              <a:t>10. Conclusion</a:t>
            </a: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7D33E80-BD9C-3EF9-FE6E-9BDCBC32B5D1}"/>
              </a:ext>
            </a:extLst>
          </p:cNvPr>
          <p:cNvSpPr>
            <a:spLocks noGrp="1"/>
          </p:cNvSpPr>
          <p:nvPr>
            <p:ph type="subTitle" idx="1"/>
          </p:nvPr>
        </p:nvSpPr>
        <p:spPr>
          <a:xfrm>
            <a:off x="1524000" y="1679713"/>
            <a:ext cx="9144000" cy="3578087"/>
          </a:xfrm>
        </p:spPr>
        <p:txBody>
          <a:bodyPr vert="horz" lIns="91440" tIns="45720" rIns="91440" bIns="45720" rtlCol="0" anchor="t">
            <a:normAutofit/>
          </a:bodyPr>
          <a:lstStyle/>
          <a:p>
            <a:pPr algn="just">
              <a:lnSpc>
                <a:spcPct val="150000"/>
              </a:lnSpc>
            </a:pPr>
            <a:r>
              <a:rPr lang="en-US">
                <a:latin typeface="Times New Roman"/>
                <a:cs typeface="Times New Roman"/>
              </a:rPr>
              <a:t>Our solution makes it easy for everyone in the KMRL organization to quickly find, understand, and act on important documents and tasks that matter to their job. It keeps information organized by roles, helps staff remember critical rules and deadlines, prevents mistakes, and allows smooth teamwork, making daily work safer and more efficient for all.</a:t>
            </a:r>
            <a:endParaRPr lang="en-IN">
              <a:latin typeface="Times New Roman"/>
              <a:cs typeface="Times New Roman"/>
            </a:endParaRPr>
          </a:p>
        </p:txBody>
      </p:sp>
    </p:spTree>
    <p:extLst>
      <p:ext uri="{BB962C8B-B14F-4D97-AF65-F5344CB8AC3E}">
        <p14:creationId xmlns:p14="http://schemas.microsoft.com/office/powerpoint/2010/main" val="2036131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71A10-8141-D40C-3B0D-17DD54D92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E4533-E611-CA74-98DC-6792A2230A17}"/>
              </a:ext>
            </a:extLst>
          </p:cNvPr>
          <p:cNvSpPr>
            <a:spLocks noGrp="1"/>
          </p:cNvSpPr>
          <p:nvPr>
            <p:ph type="ctrTitle"/>
          </p:nvPr>
        </p:nvSpPr>
        <p:spPr>
          <a:xfrm>
            <a:off x="963818" y="83909"/>
            <a:ext cx="9144000" cy="835646"/>
          </a:xfrm>
        </p:spPr>
        <p:txBody>
          <a:bodyPr>
            <a:normAutofit/>
          </a:bodyPr>
          <a:lstStyle/>
          <a:p>
            <a:pPr algn="l"/>
            <a:r>
              <a:rPr lang="en-US" sz="5400" dirty="0">
                <a:latin typeface="Times New Roman"/>
                <a:cs typeface="Times New Roman"/>
              </a:rPr>
              <a:t>11. References</a:t>
            </a: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F639B24-F9A3-FD98-1082-5DF7E2BFA76F}"/>
              </a:ext>
            </a:extLst>
          </p:cNvPr>
          <p:cNvSpPr>
            <a:spLocks noGrp="1"/>
          </p:cNvSpPr>
          <p:nvPr>
            <p:ph type="subTitle" idx="1"/>
          </p:nvPr>
        </p:nvSpPr>
        <p:spPr>
          <a:xfrm>
            <a:off x="972353" y="912987"/>
            <a:ext cx="10140952" cy="5883249"/>
          </a:xfrm>
        </p:spPr>
        <p:txBody>
          <a:bodyPr vert="horz" lIns="91440" tIns="45720" rIns="91440" bIns="45720" rtlCol="0" anchor="t">
            <a:noAutofit/>
          </a:bodyPr>
          <a:lstStyle/>
          <a:p>
            <a:pPr algn="just">
              <a:buChar char="•"/>
            </a:pPr>
            <a:r>
              <a:rPr lang="en-US" sz="1600">
                <a:latin typeface="Times New Roman"/>
                <a:ea typeface="+mn-lt"/>
                <a:cs typeface="Times New Roman"/>
              </a:rPr>
              <a:t>Madhavi, H., Cherian, J., Khamkar, Y., &amp; Bhagat, D. (2025, May 4). Low-resource language processing: An OCR-driven summarization and translation pipeline. </a:t>
            </a:r>
            <a:r>
              <a:rPr lang="en-US" sz="1600" i="1">
                <a:latin typeface="Times New Roman"/>
                <a:ea typeface="+mn-lt"/>
                <a:cs typeface="Times New Roman"/>
              </a:rPr>
              <a:t>Dr. Vishwanath Karad MIT World Peace University</a:t>
            </a:r>
            <a:r>
              <a:rPr lang="en-US" sz="1600">
                <a:latin typeface="Times New Roman"/>
                <a:ea typeface="+mn-lt"/>
                <a:cs typeface="Times New Roman"/>
              </a:rPr>
              <a:t>. DOI: </a:t>
            </a:r>
            <a:r>
              <a:rPr lang="en-IN" sz="1600">
                <a:latin typeface="Times New Roman"/>
                <a:ea typeface="+mn-lt"/>
                <a:cs typeface="Times New Roman"/>
                <a:hlinkClick r:id="rId2"/>
              </a:rPr>
              <a:t>https://doi.org/10.48550/arXiv.2505.1117</a:t>
            </a:r>
            <a:endParaRPr lang="en-US" sz="1400">
              <a:latin typeface="Aptos"/>
              <a:ea typeface="Calibri" panose="020F0502020204030204"/>
              <a:cs typeface="Calibri" panose="020F0502020204030204"/>
            </a:endParaRPr>
          </a:p>
          <a:p>
            <a:pPr algn="just">
              <a:buChar char="•"/>
            </a:pPr>
            <a:r>
              <a:rPr lang="en-US" sz="1600">
                <a:ea typeface="+mn-lt"/>
                <a:cs typeface="+mn-lt"/>
              </a:rPr>
              <a:t>Ho, P.-T., &amp; Kim, S.-R. (2014). Fingerprint-based near-duplicate document detection with applications to SNS spam detection. </a:t>
            </a:r>
            <a:r>
              <a:rPr lang="en-US" sz="1600" i="1">
                <a:ea typeface="+mn-lt"/>
                <a:cs typeface="+mn-lt"/>
              </a:rPr>
              <a:t>International Journal of Distributed Sensor Networks, 2014</a:t>
            </a:r>
            <a:r>
              <a:rPr lang="en-US" sz="1600">
                <a:ea typeface="+mn-lt"/>
                <a:cs typeface="+mn-lt"/>
              </a:rPr>
              <a:t>, Article ID 612970. DOI: </a:t>
            </a:r>
            <a:r>
              <a:rPr lang="en-US" sz="1600">
                <a:ea typeface="+mn-lt"/>
                <a:cs typeface="+mn-lt"/>
                <a:hlinkClick r:id="rId3"/>
              </a:rPr>
              <a:t>http://dx.doi.org/10.1155/2014/612970</a:t>
            </a:r>
            <a:endParaRPr lang="en-US" sz="1600">
              <a:latin typeface="Calibri"/>
              <a:ea typeface="Calibri" panose="020F0502020204030204"/>
              <a:cs typeface="Calibri" panose="020F0502020204030204"/>
            </a:endParaRPr>
          </a:p>
          <a:p>
            <a:pPr algn="just">
              <a:buChar char="•"/>
            </a:pPr>
            <a:r>
              <a:rPr lang="en-US" sz="1600">
                <a:ea typeface="+mn-lt"/>
                <a:cs typeface="+mn-lt"/>
              </a:rPr>
              <a:t>Liu, P., &amp; Chen, L. (2017). A multi-source data aggregation and multidimensional analysis model for big data. </a:t>
            </a:r>
            <a:r>
              <a:rPr lang="en-US" sz="1600" i="1">
                <a:ea typeface="+mn-lt"/>
                <a:cs typeface="+mn-lt"/>
              </a:rPr>
              <a:t>ITM Web of Conferences, 12</a:t>
            </a:r>
            <a:r>
              <a:rPr lang="en-US" sz="1600">
                <a:ea typeface="+mn-lt"/>
                <a:cs typeface="+mn-lt"/>
              </a:rPr>
              <a:t>, 05009. DOI: 10.1051/ </a:t>
            </a:r>
            <a:r>
              <a:rPr lang="en-US" sz="1600">
                <a:solidFill>
                  <a:srgbClr val="FFFFFF"/>
                </a:solidFill>
                <a:ea typeface="+mn-lt"/>
                <a:cs typeface="+mn-lt"/>
              </a:rPr>
              <a:t>itmconf</a:t>
            </a:r>
            <a:r>
              <a:rPr lang="en-US" sz="1600">
                <a:ea typeface="+mn-lt"/>
                <a:cs typeface="+mn-lt"/>
              </a:rPr>
              <a:t>/201 5009</a:t>
            </a:r>
            <a:endParaRPr lang="en-US" sz="1600">
              <a:latin typeface="Calibri"/>
              <a:ea typeface="Calibri" panose="020F0502020204030204"/>
              <a:cs typeface="Calibri"/>
            </a:endParaRPr>
          </a:p>
          <a:p>
            <a:pPr algn="just">
              <a:buChar char="•"/>
            </a:pPr>
            <a:r>
              <a:rPr lang="en-US" sz="1600">
                <a:ea typeface="+mn-lt"/>
                <a:cs typeface="+mn-lt"/>
              </a:rPr>
              <a:t>Fesehaye, D., Malik, R., &amp; Nahrstedt, K. (2010). A scalable distributed file system for cloud computing. </a:t>
            </a:r>
            <a:r>
              <a:rPr lang="en-US" sz="1600" i="1">
                <a:ea typeface="+mn-lt"/>
                <a:cs typeface="+mn-lt"/>
              </a:rPr>
              <a:t>Proceedings of the International Conference on Cloud Computing</a:t>
            </a:r>
            <a:r>
              <a:rPr lang="en-US" sz="1600">
                <a:ea typeface="+mn-lt"/>
                <a:cs typeface="+mn-lt"/>
              </a:rPr>
              <a:t>. Retrieved from </a:t>
            </a:r>
            <a:r>
              <a:rPr lang="en-US" sz="1600" u="sng">
                <a:ea typeface="+mn-lt"/>
                <a:cs typeface="+mn-lt"/>
                <a:hlinkClick r:id="rId4"/>
              </a:rPr>
              <a:t>https://www.researchgate.net/publication/228946298_A_Scalable_Distributed_File_System_for_Cloud_Computing</a:t>
            </a:r>
            <a:endParaRPr lang="en-US" sz="1600" u="sng">
              <a:latin typeface="Calibri"/>
              <a:ea typeface="Calibri" panose="020F0502020204030204"/>
              <a:cs typeface="Calibri"/>
            </a:endParaRPr>
          </a:p>
          <a:p>
            <a:pPr algn="just">
              <a:buChar char="•"/>
            </a:pPr>
            <a:r>
              <a:rPr lang="en-US" sz="1600">
                <a:latin typeface="Times New Roman"/>
                <a:ea typeface="Calibri" panose="020F0502020204030204"/>
                <a:cs typeface="Times New Roman"/>
              </a:rPr>
              <a:t>Sunitha, C., Jaya, A., &amp; Ganesh, A. (2019). Automatic summarization of Malayalam documents using clause identification method. </a:t>
            </a:r>
            <a:r>
              <a:rPr lang="en-US" sz="1600" i="1">
                <a:latin typeface="Times New Roman"/>
                <a:ea typeface="Calibri" panose="020F0502020204030204"/>
                <a:cs typeface="Times New Roman"/>
              </a:rPr>
              <a:t>International Journal of Electrical and Computer Engineering (IJECE), 9</a:t>
            </a:r>
            <a:r>
              <a:rPr lang="en-US" sz="1600">
                <a:latin typeface="Times New Roman"/>
                <a:ea typeface="Calibri" panose="020F0502020204030204"/>
                <a:cs typeface="Times New Roman"/>
              </a:rPr>
              <a:t>(6), 4929–4938. DOI: 10.11591/ijece.v9i6.pp4929-4938</a:t>
            </a:r>
          </a:p>
          <a:p>
            <a:pPr algn="just">
              <a:buChar char="•"/>
            </a:pPr>
            <a:r>
              <a:rPr lang="en-US" sz="1600">
                <a:latin typeface="Times New Roman"/>
                <a:ea typeface="Calibri" panose="020F0502020204030204"/>
                <a:cs typeface="Times New Roman"/>
              </a:rPr>
              <a:t>Fan, J., &amp; Huang, T. (2012). A fusion of algorithms in near duplicate document detection. In L. Cao et al. (Eds.), </a:t>
            </a:r>
            <a:r>
              <a:rPr lang="en-US" sz="1600" i="1">
                <a:latin typeface="Times New Roman"/>
                <a:ea typeface="Calibri" panose="020F0502020204030204"/>
                <a:cs typeface="Times New Roman"/>
              </a:rPr>
              <a:t>PAKDD 2011 Workshops: Advances in Knowledge Discovery and Data Mining</a:t>
            </a:r>
            <a:r>
              <a:rPr lang="en-US" sz="1600">
                <a:latin typeface="Times New Roman"/>
                <a:ea typeface="Calibri"/>
                <a:cs typeface="Times New Roman"/>
              </a:rPr>
              <a:t> (pp. 234–242). Springer. DOI: 10.1007/978-3-642-28320-8_20</a:t>
            </a:r>
          </a:p>
          <a:p>
            <a:pPr algn="just">
              <a:buChar char="•"/>
            </a:pPr>
            <a:r>
              <a:rPr lang="en-US" sz="1600">
                <a:latin typeface="Times New Roman"/>
                <a:ea typeface="+mn-lt"/>
                <a:cs typeface="Times New Roman"/>
              </a:rPr>
              <a:t>Babaei, M., Radfar, R., &amp; Eshlaghy, A. (2019). Knowledge Management in Railway Industry: A Conceptual Model Based on Open Innovation and online Communities.</a:t>
            </a:r>
            <a:r>
              <a:rPr lang="en-US" sz="1600" i="1">
                <a:latin typeface="Times New Roman"/>
                <a:ea typeface="+mn-lt"/>
                <a:cs typeface="Times New Roman"/>
              </a:rPr>
              <a:t> Islamic Azad University, Tehran, Iran. </a:t>
            </a:r>
            <a:r>
              <a:rPr lang="en-US" sz="1600">
                <a:latin typeface="Times New Roman"/>
                <a:ea typeface="+mn-lt"/>
                <a:cs typeface="Times New Roman"/>
              </a:rPr>
              <a:t>DOI:</a:t>
            </a:r>
            <a:r>
              <a:rPr lang="en-US" sz="1600">
                <a:latin typeface="Times New Roman"/>
                <a:ea typeface="+mn-lt"/>
                <a:cs typeface="Times New Roman"/>
                <a:hlinkClick r:id="rId5"/>
              </a:rPr>
              <a:t>10.22068/IJRARE.6.1.63</a:t>
            </a:r>
            <a:endParaRPr lang="en-US" sz="1400">
              <a:latin typeface="Aptos"/>
              <a:ea typeface="Calibri"/>
              <a:cs typeface="Times New Roman"/>
            </a:endParaRPr>
          </a:p>
          <a:p>
            <a:pPr algn="just">
              <a:buChar char="•"/>
            </a:pPr>
            <a:r>
              <a:rPr lang="en-US" sz="1600">
                <a:latin typeface="Times New Roman"/>
                <a:ea typeface="+mn-lt"/>
                <a:cs typeface="Times New Roman"/>
              </a:rPr>
              <a:t>Godbole, A. , George, J., &amp; Shandilya, S. (2024). Leveraging Long-Context Large Language Models for Multi-Document Understanding and Summarization in Enterprise Applications. DOI: </a:t>
            </a:r>
            <a:r>
              <a:rPr lang="en-IN" sz="1600">
                <a:latin typeface="Times New Roman"/>
                <a:ea typeface="+mn-lt"/>
                <a:cs typeface="Times New Roman"/>
                <a:hlinkClick r:id="rId6"/>
              </a:rPr>
              <a:t>10.48550/arXiv.</a:t>
            </a:r>
            <a:r>
              <a:rPr lang="en-IN" sz="1600">
                <a:latin typeface="Times New Roman"/>
                <a:ea typeface="Calibri"/>
                <a:cs typeface="Times New Roman"/>
                <a:hlinkClick r:id="rId6"/>
              </a:rPr>
              <a:t>2409.18454</a:t>
            </a:r>
            <a:endParaRPr lang="en-US" sz="1600">
              <a:latin typeface="Times New Roman"/>
              <a:ea typeface="Calibri"/>
              <a:cs typeface="Times New Roman"/>
            </a:endParaRPr>
          </a:p>
          <a:p>
            <a:pPr marL="457200" indent="-457200" algn="just">
              <a:buAutoNum type="arabicPeriod"/>
            </a:pPr>
            <a:endParaRPr lang="en-US" sz="1800">
              <a:latin typeface="Times New Roman"/>
              <a:ea typeface="Calibri"/>
              <a:cs typeface="Calibri" panose="020F0502020204030204"/>
            </a:endParaRPr>
          </a:p>
        </p:txBody>
      </p:sp>
    </p:spTree>
    <p:extLst>
      <p:ext uri="{BB962C8B-B14F-4D97-AF65-F5344CB8AC3E}">
        <p14:creationId xmlns:p14="http://schemas.microsoft.com/office/powerpoint/2010/main" val="972379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99C42-2A76-1EC4-B8D5-47287B1686AA}"/>
              </a:ext>
            </a:extLst>
          </p:cNvPr>
          <p:cNvSpPr>
            <a:spLocks noGrp="1"/>
          </p:cNvSpPr>
          <p:nvPr>
            <p:ph type="title"/>
          </p:nvPr>
        </p:nvSpPr>
        <p:spPr>
          <a:xfrm>
            <a:off x="3263348" y="2274749"/>
            <a:ext cx="5999922" cy="1891058"/>
          </a:xfrm>
        </p:spPr>
        <p:txBody>
          <a:bodyPr>
            <a:normAutofit/>
          </a:bodyPr>
          <a:lstStyle/>
          <a:p>
            <a:pPr algn="just"/>
            <a:r>
              <a:rPr lang="en-US" sz="7200" dirty="0">
                <a:latin typeface="Times New Roman" panose="02020603050405020304" pitchFamily="18" charset="0"/>
                <a:cs typeface="Times New Roman" panose="02020603050405020304" pitchFamily="18" charset="0"/>
              </a:rPr>
              <a:t>THANK YOU</a:t>
            </a:r>
            <a:endParaRPr lang="en-IN"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1071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1727</Words>
  <Application>Microsoft Office PowerPoint</Application>
  <PresentationFormat>Widescreen</PresentationFormat>
  <Paragraphs>142</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Shri Ram Murti Smarak College of Engineering &amp; Technology, Bareilly Department of Computer Science &amp; Engineering </vt:lpstr>
      <vt:lpstr>Content</vt:lpstr>
      <vt:lpstr>1.cIntroduction</vt:lpstr>
      <vt:lpstr>2. Motivation</vt:lpstr>
      <vt:lpstr>3. Literature Review</vt:lpstr>
      <vt:lpstr>PowerPoint Presentation</vt:lpstr>
      <vt:lpstr>PowerPoint Presentation</vt:lpstr>
      <vt:lpstr>PowerPoint Presentation</vt:lpstr>
      <vt:lpstr>PowerPoint Presentation</vt:lpstr>
      <vt:lpstr>4. Problem Statement</vt:lpstr>
      <vt:lpstr>5. Objective</vt:lpstr>
      <vt:lpstr>6. Proposed Solution</vt:lpstr>
      <vt:lpstr>PowerPoint Presentation</vt:lpstr>
      <vt:lpstr>PowerPoint Presentation</vt:lpstr>
      <vt:lpstr>7.Progress</vt:lpstr>
      <vt:lpstr>PowerPoint Presentation</vt:lpstr>
      <vt:lpstr>PowerPoint Presentation</vt:lpstr>
      <vt:lpstr>PowerPoint Presentation</vt:lpstr>
      <vt:lpstr>PowerPoint Presentation</vt:lpstr>
      <vt:lpstr>PowerPoint Presentation</vt:lpstr>
      <vt:lpstr>8. Methodology</vt:lpstr>
      <vt:lpstr>9. Hardware &amp; Software Requirements</vt:lpstr>
      <vt:lpstr>10. Conclusion</vt:lpstr>
      <vt:lpstr>11.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Nivedika Sharma</dc:creator>
  <cp:lastModifiedBy>Nivedika Sharma</cp:lastModifiedBy>
  <cp:revision>126</cp:revision>
  <dcterms:created xsi:type="dcterms:W3CDTF">2025-09-23T10:20:15Z</dcterms:created>
  <dcterms:modified xsi:type="dcterms:W3CDTF">2025-12-09T04:58:15Z</dcterms:modified>
</cp:coreProperties>
</file>